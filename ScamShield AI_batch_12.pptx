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0" r:id="rId3"/>
    <p:sldId id="269" r:id="rId4"/>
    <p:sldId id="257" r:id="rId5"/>
    <p:sldId id="258" r:id="rId6"/>
    <p:sldId id="259" r:id="rId7"/>
    <p:sldId id="260" r:id="rId8"/>
    <p:sldId id="261" r:id="rId9"/>
    <p:sldId id="262" r:id="rId10"/>
    <p:sldId id="271" r:id="rId11"/>
    <p:sldId id="273" r:id="rId12"/>
    <p:sldId id="274" r:id="rId13"/>
    <p:sldId id="275" r:id="rId14"/>
    <p:sldId id="263" r:id="rId15"/>
    <p:sldId id="272" r:id="rId16"/>
    <p:sldId id="267" r:id="rId17"/>
    <p:sldId id="268"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4711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every year, students lose money and documents to fake job offers. ScamShield AI tells you if an offer is risky, explains why, and helps you act, in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2085F-E5DF-CF31-BAA8-824C08DE5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AD654-D0F4-A497-1264-DDF8826D90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C44382-A4E8-5CA5-3F70-44149C2ADF58}"/>
              </a:ext>
            </a:extLst>
          </p:cNvPr>
          <p:cNvSpPr>
            <a:spLocks noGrp="1"/>
          </p:cNvSpPr>
          <p:nvPr>
            <p:ph type="body" idx="1"/>
          </p:nvPr>
        </p:nvSpPr>
        <p:spPr/>
        <p:txBody>
          <a:bodyPr/>
          <a:lstStyle/>
          <a:p>
            <a:r>
              <a:rPr lang="en-US" dirty="0"/>
              <a:t>Ask the audience: has anyone received a job offer that asked for money? Then explain the three common patterns, and mention that recruiters have the opposite problem with fake resumes.</a:t>
            </a:r>
          </a:p>
        </p:txBody>
      </p:sp>
      <p:sp>
        <p:nvSpPr>
          <p:cNvPr id="4" name="Slide Number Placeholder 3">
            <a:extLst>
              <a:ext uri="{FF2B5EF4-FFF2-40B4-BE49-F238E27FC236}">
                <a16:creationId xmlns:a16="http://schemas.microsoft.com/office/drawing/2014/main" id="{3C5C72EF-78F6-84A5-C703-0C2644AD4E91}"/>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79859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67771-5DC2-0E31-4499-E390756AC5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58E90B-6516-DD1E-D689-FCAB5A8AC2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6FAA23-3446-2A27-C12F-1A3709AFCED8}"/>
              </a:ext>
            </a:extLst>
          </p:cNvPr>
          <p:cNvSpPr>
            <a:spLocks noGrp="1"/>
          </p:cNvSpPr>
          <p:nvPr>
            <p:ph type="body" idx="1"/>
          </p:nvPr>
        </p:nvSpPr>
        <p:spPr/>
        <p:txBody>
          <a:bodyPr/>
          <a:lstStyle/>
          <a:p>
            <a:r>
              <a:rPr lang="en-US" dirty="0"/>
              <a:t>Ask the audience: has anyone received a job offer that asked for money? Then explain the three common patterns, and mention that recruiters have the opposite problem with fake resumes.</a:t>
            </a:r>
          </a:p>
        </p:txBody>
      </p:sp>
      <p:sp>
        <p:nvSpPr>
          <p:cNvPr id="4" name="Slide Number Placeholder 3">
            <a:extLst>
              <a:ext uri="{FF2B5EF4-FFF2-40B4-BE49-F238E27FC236}">
                <a16:creationId xmlns:a16="http://schemas.microsoft.com/office/drawing/2014/main" id="{311E745A-90E6-4470-FAC7-1260AA53E48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781584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audience: has anyone received a job offer that asked for money? Then explain the three common patterns, and mention that recruiters have the opposite problem with fake resumes.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verbs. Stress that the result is a risk indicator, and that the tool explains itself rather than giving a black-box verdict.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two-sided product is what makes this more than a classifier: it protects the job seeker and helps the recruiter.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message through the pipeline. The three checks run side by side and are combined into one score, so a single weak signal never decides the result alone.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or three to demo live: the screenshot scanner, the highlighted words and the complaint draft land best with an audience.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there is no public labeled dataset of fake resumes, so this mode is rule and consistency based. That is the honest approach, and the interview questions are the most useful output.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3D9FD-141C-5F85-F7B1-DB7D18A62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5AD593-2574-35A0-645A-D2309F6996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F9B00C-501B-A507-9C63-19DA36D6D302}"/>
              </a:ext>
            </a:extLst>
          </p:cNvPr>
          <p:cNvSpPr>
            <a:spLocks noGrp="1"/>
          </p:cNvSpPr>
          <p:nvPr>
            <p:ph type="body" idx="1"/>
          </p:nvPr>
        </p:nvSpPr>
        <p:spPr/>
        <p:txBody>
          <a:bodyPr/>
          <a:lstStyle/>
          <a:p>
            <a:r>
              <a:rPr lang="en-US" dirty="0"/>
              <a:t>Ask the audience: has anyone received a job offer that asked for money? Then explain the three common patterns, and mention that recruiters have the opposite problem with fake resumes.</a:t>
            </a:r>
          </a:p>
        </p:txBody>
      </p:sp>
      <p:sp>
        <p:nvSpPr>
          <p:cNvPr id="4" name="Slide Number Placeholder 3">
            <a:extLst>
              <a:ext uri="{FF2B5EF4-FFF2-40B4-BE49-F238E27FC236}">
                <a16:creationId xmlns:a16="http://schemas.microsoft.com/office/drawing/2014/main" id="{37D36902-0C8D-D879-9758-67CD3569859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0329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550AF-0D16-E56B-E1EA-8570C8F435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2AA38-5138-2D0F-D9BC-A00D1120F5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1F57B7-306E-510A-22D8-5B72617ED952}"/>
              </a:ext>
            </a:extLst>
          </p:cNvPr>
          <p:cNvSpPr>
            <a:spLocks noGrp="1"/>
          </p:cNvSpPr>
          <p:nvPr>
            <p:ph type="body" idx="1"/>
          </p:nvPr>
        </p:nvSpPr>
        <p:spPr/>
        <p:txBody>
          <a:bodyPr/>
          <a:lstStyle/>
          <a:p>
            <a:r>
              <a:rPr lang="en-US" dirty="0"/>
              <a:t>Ask the audience: has anyone received a job offer that asked for money? Then explain the three common patterns, and mention that recruiters have the opposite problem with fake resumes.</a:t>
            </a:r>
          </a:p>
        </p:txBody>
      </p:sp>
      <p:sp>
        <p:nvSpPr>
          <p:cNvPr id="4" name="Slide Number Placeholder 3">
            <a:extLst>
              <a:ext uri="{FF2B5EF4-FFF2-40B4-BE49-F238E27FC236}">
                <a16:creationId xmlns:a16="http://schemas.microsoft.com/office/drawing/2014/main" id="{5477A7B4-3F46-F680-A991-F0096575A53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566703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60F49-505C-2257-3AD3-41EB71C412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47B7F-A40E-4852-72A7-2458CEF381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5608E-A81A-2BD1-4BAC-83EF68532260}"/>
              </a:ext>
            </a:extLst>
          </p:cNvPr>
          <p:cNvSpPr>
            <a:spLocks noGrp="1"/>
          </p:cNvSpPr>
          <p:nvPr>
            <p:ph type="body" idx="1"/>
          </p:nvPr>
        </p:nvSpPr>
        <p:spPr/>
        <p:txBody>
          <a:bodyPr/>
          <a:lstStyle/>
          <a:p>
            <a:r>
              <a:rPr lang="en-US" dirty="0"/>
              <a:t>Ask the audience: has anyone received a job offer that asked for money? Then explain the three common patterns, and mention that recruiters have the opposite problem with fake resumes.</a:t>
            </a:r>
          </a:p>
        </p:txBody>
      </p:sp>
      <p:sp>
        <p:nvSpPr>
          <p:cNvPr id="4" name="Slide Number Placeholder 3">
            <a:extLst>
              <a:ext uri="{FF2B5EF4-FFF2-40B4-BE49-F238E27FC236}">
                <a16:creationId xmlns:a16="http://schemas.microsoft.com/office/drawing/2014/main" id="{C025AEF8-182F-8079-010D-2904AF9035A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780283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5377-EFA1-B682-3CCC-EC0BAFF9E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F13C8C-29D7-D450-18BA-96AF08112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84A1D-D764-6531-27FE-9C4C25ECEB50}"/>
              </a:ext>
            </a:extLst>
          </p:cNvPr>
          <p:cNvSpPr>
            <a:spLocks noGrp="1"/>
          </p:cNvSpPr>
          <p:nvPr>
            <p:ph type="body" idx="1"/>
          </p:nvPr>
        </p:nvSpPr>
        <p:spPr/>
        <p:txBody>
          <a:bodyPr/>
          <a:lstStyle/>
          <a:p>
            <a:r>
              <a:rPr lang="en-US" dirty="0"/>
              <a:t>Ask the audience: has anyone received a job offer that asked for money? Then explain the three common patterns, and mention that recruiters have the opposite problem with fake resumes.</a:t>
            </a:r>
          </a:p>
        </p:txBody>
      </p:sp>
      <p:sp>
        <p:nvSpPr>
          <p:cNvPr id="4" name="Slide Number Placeholder 3">
            <a:extLst>
              <a:ext uri="{FF2B5EF4-FFF2-40B4-BE49-F238E27FC236}">
                <a16:creationId xmlns:a16="http://schemas.microsoft.com/office/drawing/2014/main" id="{6BF12933-E9D4-E72F-6C99-2EF1E048388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275215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pages are plain HTML, CSS and JavaScript. Python and Flask run the model, OCR and resume checks behind them and return JSON to the page.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CC9A1-B9D4-E491-613B-38AD1F067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FF0E7-5B7E-E58E-A75B-71B5AE864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3D3DC8-2AD3-0182-113A-51336E1F81BA}"/>
              </a:ext>
            </a:extLst>
          </p:cNvPr>
          <p:cNvSpPr>
            <a:spLocks noGrp="1"/>
          </p:cNvSpPr>
          <p:nvPr>
            <p:ph type="body" idx="1"/>
          </p:nvPr>
        </p:nvSpPr>
        <p:spPr/>
        <p:txBody>
          <a:bodyPr/>
          <a:lstStyle/>
          <a:p>
            <a:r>
              <a:rPr lang="en-US" dirty="0"/>
              <a:t>Ask the audience: has anyone received a job offer that asked for money? Then explain the three common patterns, and mention that recruiters have the opposite problem with fake resumes.</a:t>
            </a:r>
          </a:p>
        </p:txBody>
      </p:sp>
      <p:sp>
        <p:nvSpPr>
          <p:cNvPr id="4" name="Slide Number Placeholder 3">
            <a:extLst>
              <a:ext uri="{FF2B5EF4-FFF2-40B4-BE49-F238E27FC236}">
                <a16:creationId xmlns:a16="http://schemas.microsoft.com/office/drawing/2014/main" id="{2BE23FC3-291F-AFB5-93F1-2328030CC4A2}"/>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524353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placement cell view as a future deployment: it shows the project has a real institutional use.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tagline, then invite a judge to paste a real message and see the result.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0F1B2D"/>
                </a:solidFill>
                <a:latin typeface="Rubik" pitchFamily="34" charset="0"/>
                <a:ea typeface="Rubik" pitchFamily="34" charset="-122"/>
                <a:cs typeface="Rubi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521"/>
            <a:ext cx="10566400" cy="4170679"/>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0F1B2D"/>
                </a:solidFill>
                <a:latin typeface="Rubik" pitchFamily="34" charset="0"/>
                <a:ea typeface="Rubik" pitchFamily="34" charset="-122"/>
                <a:cs typeface="Rubi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521"/>
            <a:ext cx="10566400" cy="4170679"/>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19456" y="49179"/>
            <a:ext cx="12192000" cy="6858000"/>
          </a:xfrm>
          <a:prstGeom prst="rect">
            <a:avLst/>
          </a:prstGeom>
          <a:gradFill rotWithShape="1">
            <a:gsLst>
              <a:gs pos="0">
                <a:srgbClr val="0F1B2D"/>
              </a:gs>
              <a:gs pos="100000">
                <a:srgbClr val="17304D"/>
              </a:gs>
            </a:gsLst>
            <a:lin ang="2700000" scaled="0"/>
          </a:gradFill>
          <a:ln/>
        </p:spPr>
      </p:sp>
      <p:pic>
        <p:nvPicPr>
          <p:cNvPr id="3" name="Image 0" descr="Verified"/>
          <p:cNvPicPr>
            <a:picLocks noChangeAspect="1"/>
          </p:cNvPicPr>
          <p:nvPr/>
        </p:nvPicPr>
        <p:blipFill>
          <a:blip r:embed="rId3"/>
          <a:srcRect/>
          <a:stretch/>
        </p:blipFill>
        <p:spPr>
          <a:xfrm>
            <a:off x="10109200" y="812800"/>
            <a:ext cx="1270000" cy="1270000"/>
          </a:xfrm>
          <a:prstGeom prst="rect">
            <a:avLst/>
          </a:prstGeom>
        </p:spPr>
      </p:pic>
      <p:sp>
        <p:nvSpPr>
          <p:cNvPr id="5" name="Text 2"/>
          <p:cNvSpPr>
            <a:spLocks noGrp="1"/>
          </p:cNvSpPr>
          <p:nvPr>
            <p:ph type="title"/>
          </p:nvPr>
        </p:nvSpPr>
        <p:spPr>
          <a:xfrm>
            <a:off x="812800" y="2218690"/>
            <a:ext cx="10883392" cy="1038860"/>
          </a:xfrm>
          <a:prstGeom prst="rect">
            <a:avLst/>
          </a:prstGeom>
          <a:noFill/>
          <a:ln/>
        </p:spPr>
        <p:txBody>
          <a:bodyPr wrap="square" lIns="0" tIns="0" rIns="0" bIns="0" rtlCol="0" anchor="t">
            <a:normAutofit/>
          </a:bodyPr>
          <a:lstStyle/>
          <a:p>
            <a:pPr marL="0" indent="0" algn="l">
              <a:lnSpc>
                <a:spcPts val="7980"/>
              </a:lnSpc>
              <a:buNone/>
            </a:pPr>
            <a:r>
              <a:rPr lang="en-US" sz="7600" b="1" i="0" dirty="0">
                <a:solidFill>
                  <a:srgbClr val="F4F6F8"/>
                </a:solidFill>
                <a:latin typeface="Rubik" pitchFamily="34" charset="0"/>
                <a:ea typeface="Rubik" pitchFamily="34" charset="-122"/>
                <a:cs typeface="Rubik" pitchFamily="34" charset="-120"/>
              </a:rPr>
              <a:t>ScamShield AI</a:t>
            </a:r>
            <a:endParaRPr lang="en-US" sz="7600" dirty="0"/>
          </a:p>
        </p:txBody>
      </p:sp>
      <p:sp>
        <p:nvSpPr>
          <p:cNvPr id="6" name="Text 3"/>
          <p:cNvSpPr/>
          <p:nvPr/>
        </p:nvSpPr>
        <p:spPr>
          <a:xfrm>
            <a:off x="812800" y="3409950"/>
            <a:ext cx="8502650" cy="756920"/>
          </a:xfrm>
          <a:prstGeom prst="rect">
            <a:avLst/>
          </a:prstGeom>
          <a:noFill/>
          <a:ln/>
        </p:spPr>
        <p:txBody>
          <a:bodyPr wrap="square" lIns="0" tIns="0" rIns="0" bIns="0" rtlCol="0" anchor="t">
            <a:normAutofit/>
          </a:bodyPr>
          <a:lstStyle/>
          <a:p>
            <a:r>
              <a:rPr lang="en-IN" sz="2400" dirty="0">
                <a:solidFill>
                  <a:schemeClr val="bg1"/>
                </a:solidFill>
              </a:rPr>
              <a:t>Fake Job &amp; Internship Scam Detection System</a:t>
            </a:r>
            <a:endParaRPr lang="en-US" sz="2400" dirty="0">
              <a:solidFill>
                <a:schemeClr val="bg1"/>
              </a:solidFill>
            </a:endParaRPr>
          </a:p>
        </p:txBody>
      </p:sp>
      <p:sp>
        <p:nvSpPr>
          <p:cNvPr id="7" name="Text 4"/>
          <p:cNvSpPr/>
          <p:nvPr/>
        </p:nvSpPr>
        <p:spPr>
          <a:xfrm>
            <a:off x="812800" y="4066162"/>
            <a:ext cx="10883392" cy="598548"/>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3DD6C3"/>
                </a:solidFill>
                <a:latin typeface="IBM Plex Sans" pitchFamily="34" charset="0"/>
                <a:ea typeface="IBM Plex Sans" pitchFamily="34" charset="-122"/>
                <a:cs typeface="IBM Plex Sans" pitchFamily="34" charset="-120"/>
              </a:rPr>
              <a:t>Detect. Explain. Report. Protect, before you pay.</a:t>
            </a:r>
            <a:endParaRPr lang="en-US" sz="1800" dirty="0"/>
          </a:p>
        </p:txBody>
      </p:sp>
      <p:sp>
        <p:nvSpPr>
          <p:cNvPr id="8" name="Text 5"/>
          <p:cNvSpPr/>
          <p:nvPr/>
        </p:nvSpPr>
        <p:spPr>
          <a:xfrm>
            <a:off x="812800" y="4664710"/>
            <a:ext cx="10883392" cy="224246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A0B8"/>
                </a:solidFill>
                <a:latin typeface="IBM Plex Sans" pitchFamily="34" charset="0"/>
              </a:rPr>
              <a:t>TEAM MEMBERS:</a:t>
            </a:r>
          </a:p>
          <a:p>
            <a:pPr marL="0" indent="0" algn="l">
              <a:lnSpc>
                <a:spcPts val="1960"/>
              </a:lnSpc>
              <a:buNone/>
            </a:pPr>
            <a:endParaRPr lang="en-US" sz="1400" b="1" dirty="0">
              <a:solidFill>
                <a:srgbClr val="8FA0B8"/>
              </a:solidFill>
              <a:latin typeface="IBM Plex Sans" pitchFamily="34" charset="0"/>
            </a:endParaRPr>
          </a:p>
          <a:p>
            <a:pPr marL="0" indent="0" algn="l">
              <a:lnSpc>
                <a:spcPts val="1960"/>
              </a:lnSpc>
              <a:buNone/>
            </a:pPr>
            <a:r>
              <a:rPr lang="en-US" sz="1400" b="1" dirty="0">
                <a:solidFill>
                  <a:srgbClr val="8FA0B8"/>
                </a:solidFill>
                <a:latin typeface="IBM Plex Sans" pitchFamily="34" charset="0"/>
              </a:rPr>
              <a:t>SIVADHARSHINI S</a:t>
            </a:r>
          </a:p>
          <a:p>
            <a:pPr marL="0" indent="0" algn="l">
              <a:lnSpc>
                <a:spcPts val="1960"/>
              </a:lnSpc>
              <a:buNone/>
            </a:pPr>
            <a:r>
              <a:rPr lang="en-US" sz="1400" b="1" dirty="0">
                <a:solidFill>
                  <a:srgbClr val="8FA0B8"/>
                </a:solidFill>
                <a:latin typeface="IBM Plex Sans" pitchFamily="34" charset="0"/>
              </a:rPr>
              <a:t>SRUTHIKS G</a:t>
            </a:r>
          </a:p>
          <a:p>
            <a:pPr marL="0" indent="0" algn="l">
              <a:lnSpc>
                <a:spcPts val="1960"/>
              </a:lnSpc>
              <a:buNone/>
            </a:pPr>
            <a:r>
              <a:rPr lang="en-US" sz="1400" b="1" dirty="0">
                <a:solidFill>
                  <a:srgbClr val="8FA0B8"/>
                </a:solidFill>
                <a:latin typeface="IBM Plex Sans" pitchFamily="34" charset="0"/>
              </a:rPr>
              <a:t>SUBIKSHA D</a:t>
            </a:r>
          </a:p>
          <a:p>
            <a:pPr marL="0" indent="0" algn="l">
              <a:lnSpc>
                <a:spcPts val="1960"/>
              </a:lnSpc>
              <a:buNone/>
            </a:pPr>
            <a:r>
              <a:rPr lang="en-US" sz="1400" b="1" dirty="0">
                <a:solidFill>
                  <a:srgbClr val="8FA0B8"/>
                </a:solidFill>
                <a:latin typeface="IBM Plex Sans" pitchFamily="34" charset="0"/>
              </a:rPr>
              <a:t>YOGALAKSHME M</a:t>
            </a:r>
          </a:p>
          <a:p>
            <a:pPr marL="0" indent="0" algn="l">
              <a:lnSpc>
                <a:spcPts val="1960"/>
              </a:lnSpc>
              <a:buNone/>
            </a:pPr>
            <a:endParaRPr lang="en-US"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59AA1-852E-72FD-4002-A14E83DFDCA6}"/>
            </a:ext>
          </a:extLst>
        </p:cNvPr>
        <p:cNvGrpSpPr/>
        <p:nvPr/>
      </p:nvGrpSpPr>
      <p:grpSpPr>
        <a:xfrm>
          <a:off x="0" y="0"/>
          <a:ext cx="0" cy="0"/>
          <a:chOff x="0" y="0"/>
          <a:chExt cx="0" cy="0"/>
        </a:xfrm>
      </p:grpSpPr>
      <p:sp>
        <p:nvSpPr>
          <p:cNvPr id="18" name="Text 0">
            <a:extLst>
              <a:ext uri="{FF2B5EF4-FFF2-40B4-BE49-F238E27FC236}">
                <a16:creationId xmlns:a16="http://schemas.microsoft.com/office/drawing/2014/main" id="{085D7EEA-7986-1A95-E864-AF1E7AA907D1}"/>
              </a:ext>
            </a:extLst>
          </p:cNvPr>
          <p:cNvSpPr/>
          <p:nvPr/>
        </p:nvSpPr>
        <p:spPr>
          <a:xfrm>
            <a:off x="525295" y="311286"/>
            <a:ext cx="11760178" cy="772658"/>
          </a:xfrm>
          <a:prstGeom prst="rect">
            <a:avLst/>
          </a:prstGeom>
          <a:noFill/>
          <a:ln/>
        </p:spPr>
        <p:txBody>
          <a:bodyPr wrap="square" lIns="0" tIns="0" rIns="0" bIns="0" rtlCol="0" anchor="t">
            <a:noAutofit/>
          </a:bodyPr>
          <a:lstStyle/>
          <a:p>
            <a:r>
              <a:rPr lang="en-IN" sz="3200" b="1" dirty="0">
                <a:solidFill>
                  <a:schemeClr val="accent1">
                    <a:lumMod val="75000"/>
                  </a:schemeClr>
                </a:solidFill>
              </a:rPr>
              <a:t>Presentation Overview:</a:t>
            </a:r>
            <a:endParaRPr lang="en-US" sz="3200" b="1" dirty="0">
              <a:ln w="0"/>
              <a:solidFill>
                <a:schemeClr val="accent1">
                  <a:lumMod val="75000"/>
                </a:schemeClr>
              </a:solidFill>
              <a:effectLst>
                <a:outerShdw blurRad="38100" dist="19050" dir="2700000" algn="tl" rotWithShape="0">
                  <a:schemeClr val="dk1">
                    <a:alpha val="40000"/>
                  </a:schemeClr>
                </a:outerShdw>
              </a:effectLst>
            </a:endParaRPr>
          </a:p>
        </p:txBody>
      </p:sp>
      <p:sp>
        <p:nvSpPr>
          <p:cNvPr id="20" name="TextBox 19">
            <a:extLst>
              <a:ext uri="{FF2B5EF4-FFF2-40B4-BE49-F238E27FC236}">
                <a16:creationId xmlns:a16="http://schemas.microsoft.com/office/drawing/2014/main" id="{1B7DC33C-B84D-F392-1777-6DFC303CE482}"/>
              </a:ext>
            </a:extLst>
          </p:cNvPr>
          <p:cNvSpPr txBox="1"/>
          <p:nvPr/>
        </p:nvSpPr>
        <p:spPr>
          <a:xfrm>
            <a:off x="1001949" y="865762"/>
            <a:ext cx="8212577" cy="5448543"/>
          </a:xfrm>
          <a:prstGeom prst="rect">
            <a:avLst/>
          </a:prstGeom>
          <a:noFill/>
        </p:spPr>
        <p:txBody>
          <a:bodyPr wrap="square">
            <a:spAutoFit/>
          </a:bodyPr>
          <a:lstStyle/>
          <a:p>
            <a:pPr lvl="0" rtl="0">
              <a:lnSpc>
                <a:spcPct val="150000"/>
              </a:lnSpc>
            </a:pPr>
            <a:endParaRPr lang="en-IN" b="1" dirty="0">
              <a:effectLst/>
              <a:latin typeface="Times New Roman" panose="02020603050405020304" pitchFamily="18" charset="0"/>
              <a:cs typeface="Times New Roman" panose="02020603050405020304" pitchFamily="18" charset="0"/>
            </a:endParaRPr>
          </a:p>
          <a:p>
            <a:pPr marL="342900" lvl="0" indent="-342900" rtl="0">
              <a:lnSpc>
                <a:spcPct val="150000"/>
              </a:lnSpc>
              <a:buFont typeface="+mj-lt"/>
              <a:buAutoNum type="arabicPeriod"/>
            </a:pPr>
            <a:r>
              <a:rPr lang="en-IN" b="1" dirty="0">
                <a:effectLst/>
                <a:latin typeface="Times New Roman" panose="02020603050405020304" pitchFamily="18" charset="0"/>
                <a:cs typeface="Times New Roman" panose="02020603050405020304" pitchFamily="18" charset="0"/>
              </a:rPr>
              <a:t>Objective</a:t>
            </a:r>
          </a:p>
          <a:p>
            <a:pPr marL="342900" lvl="0" indent="-342900" rtl="0">
              <a:lnSpc>
                <a:spcPct val="150000"/>
              </a:lnSpc>
              <a:buFont typeface="+mj-lt"/>
              <a:buAutoNum type="arabicPeriod"/>
            </a:pPr>
            <a:r>
              <a:rPr lang="en-IN" b="1" dirty="0">
                <a:effectLst/>
                <a:latin typeface="Times New Roman" panose="02020603050405020304" pitchFamily="18" charset="0"/>
                <a:cs typeface="Times New Roman" panose="02020603050405020304" pitchFamily="18" charset="0"/>
              </a:rPr>
              <a:t>The Problem </a:t>
            </a:r>
          </a:p>
          <a:p>
            <a:pPr marL="342900" lvl="0" indent="-342900" rtl="0">
              <a:lnSpc>
                <a:spcPct val="150000"/>
              </a:lnSpc>
              <a:buFont typeface="+mj-lt"/>
              <a:buAutoNum type="arabicPeriod"/>
            </a:pPr>
            <a:r>
              <a:rPr lang="en-IN" b="1" dirty="0">
                <a:effectLst/>
                <a:latin typeface="Times New Roman" panose="02020603050405020304" pitchFamily="18" charset="0"/>
                <a:cs typeface="Times New Roman" panose="02020603050405020304" pitchFamily="18" charset="0"/>
              </a:rPr>
              <a:t>The Solution</a:t>
            </a:r>
          </a:p>
          <a:p>
            <a:pPr marL="342900" lvl="0" indent="-342900" rtl="0">
              <a:lnSpc>
                <a:spcPct val="150000"/>
              </a:lnSpc>
              <a:buFont typeface="+mj-lt"/>
              <a:buAutoNum type="arabicPeriod"/>
            </a:pPr>
            <a:r>
              <a:rPr lang="en-IN" b="1" dirty="0">
                <a:effectLst/>
                <a:latin typeface="Times New Roman" panose="02020603050405020304" pitchFamily="18" charset="0"/>
                <a:cs typeface="Times New Roman" panose="02020603050405020304" pitchFamily="18" charset="0"/>
              </a:rPr>
              <a:t>Two Sides Of The Problem</a:t>
            </a:r>
          </a:p>
          <a:p>
            <a:pPr marL="342900" lvl="0" indent="-342900" rtl="0">
              <a:lnSpc>
                <a:spcPct val="150000"/>
              </a:lnSpc>
              <a:buFont typeface="+mj-lt"/>
              <a:buAutoNum type="arabicPeriod"/>
            </a:pPr>
            <a:r>
              <a:rPr lang="en-IN" b="1" dirty="0">
                <a:effectLst/>
                <a:latin typeface="Times New Roman" panose="02020603050405020304" pitchFamily="18" charset="0"/>
                <a:cs typeface="Times New Roman" panose="02020603050405020304" pitchFamily="18" charset="0"/>
              </a:rPr>
              <a:t>System Architecture</a:t>
            </a:r>
          </a:p>
          <a:p>
            <a:pPr marL="342900" lvl="0" indent="-342900" rtl="0">
              <a:lnSpc>
                <a:spcPct val="150000"/>
              </a:lnSpc>
              <a:buFont typeface="+mj-lt"/>
              <a:buAutoNum type="arabicPeriod"/>
            </a:pPr>
            <a:r>
              <a:rPr lang="en-IN" b="1" dirty="0">
                <a:effectLst/>
                <a:latin typeface="Times New Roman" panose="02020603050405020304" pitchFamily="18" charset="0"/>
                <a:cs typeface="Times New Roman" panose="02020603050405020304" pitchFamily="18" charset="0"/>
              </a:rPr>
              <a:t>Student Mode</a:t>
            </a:r>
          </a:p>
          <a:p>
            <a:pPr marL="342900" lvl="0" indent="-342900" rtl="0">
              <a:lnSpc>
                <a:spcPct val="150000"/>
              </a:lnSpc>
              <a:buFont typeface="+mj-lt"/>
              <a:buAutoNum type="arabicPeriod"/>
            </a:pPr>
            <a:r>
              <a:rPr lang="en-IN" b="1" dirty="0">
                <a:effectLst/>
                <a:latin typeface="Times New Roman" panose="02020603050405020304" pitchFamily="18" charset="0"/>
                <a:cs typeface="Times New Roman" panose="02020603050405020304" pitchFamily="18" charset="0"/>
              </a:rPr>
              <a:t>Recruiter Mode</a:t>
            </a:r>
          </a:p>
          <a:p>
            <a:pPr marL="342900" lvl="0" indent="-342900" rtl="0">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Modules Used</a:t>
            </a:r>
            <a:endParaRPr lang="en-IN" b="1" dirty="0">
              <a:effectLst/>
              <a:latin typeface="Times New Roman" panose="02020603050405020304" pitchFamily="18" charset="0"/>
              <a:cs typeface="Times New Roman" panose="02020603050405020304" pitchFamily="18" charset="0"/>
            </a:endParaRPr>
          </a:p>
          <a:p>
            <a:pPr marL="342900" lvl="0" indent="-342900" rtl="0">
              <a:lnSpc>
                <a:spcPct val="150000"/>
              </a:lnSpc>
              <a:buFont typeface="+mj-lt"/>
              <a:buAutoNum type="arabicPeriod"/>
            </a:pPr>
            <a:r>
              <a:rPr lang="en-IN" b="1" dirty="0">
                <a:effectLst/>
                <a:latin typeface="Times New Roman" panose="02020603050405020304" pitchFamily="18" charset="0"/>
                <a:cs typeface="Times New Roman" panose="02020603050405020304" pitchFamily="18" charset="0"/>
              </a:rPr>
              <a:t>Output Screenshots</a:t>
            </a:r>
          </a:p>
          <a:p>
            <a:pPr marL="342900" lvl="0" indent="-342900" rtl="0">
              <a:lnSpc>
                <a:spcPct val="150000"/>
              </a:lnSpc>
              <a:buFont typeface="+mj-lt"/>
              <a:buAutoNum type="arabicPeriod"/>
            </a:pPr>
            <a:r>
              <a:rPr lang="en-IN" b="1" dirty="0">
                <a:effectLst/>
                <a:latin typeface="Times New Roman" panose="02020603050405020304" pitchFamily="18" charset="0"/>
                <a:cs typeface="Times New Roman" panose="02020603050405020304" pitchFamily="18" charset="0"/>
              </a:rPr>
              <a:t>Technology Used</a:t>
            </a:r>
          </a:p>
          <a:p>
            <a:pPr marL="342900" lvl="0" indent="-342900" rtl="0">
              <a:lnSpc>
                <a:spcPct val="150000"/>
              </a:lnSpc>
              <a:buFont typeface="+mj-lt"/>
              <a:buAutoNum type="arabicPeriod"/>
            </a:pPr>
            <a:r>
              <a:rPr lang="en-IN" b="1" dirty="0">
                <a:effectLst/>
                <a:latin typeface="Times New Roman" panose="02020603050405020304" pitchFamily="18" charset="0"/>
                <a:cs typeface="Times New Roman" panose="02020603050405020304" pitchFamily="18" charset="0"/>
              </a:rPr>
              <a:t>Conclusion</a:t>
            </a:r>
          </a:p>
          <a:p>
            <a:pPr marL="342900" lvl="0" indent="-342900" rtl="0">
              <a:lnSpc>
                <a:spcPct val="150000"/>
              </a:lnSpc>
              <a:buFont typeface="+mj-lt"/>
              <a:buAutoNum type="arabicPeriod"/>
            </a:pPr>
            <a:r>
              <a:rPr lang="en-IN" b="1" dirty="0">
                <a:effectLst/>
                <a:latin typeface="Times New Roman" panose="02020603050405020304" pitchFamily="18" charset="0"/>
                <a:cs typeface="Times New Roman" panose="02020603050405020304" pitchFamily="18" charset="0"/>
              </a:rPr>
              <a:t>Future </a:t>
            </a:r>
            <a:r>
              <a:rPr lang="en-IN" b="1" dirty="0">
                <a:latin typeface="Times New Roman" panose="02020603050405020304" pitchFamily="18" charset="0"/>
                <a:cs typeface="Times New Roman" panose="02020603050405020304" pitchFamily="18" charset="0"/>
              </a:rPr>
              <a:t>Work</a:t>
            </a:r>
            <a:endParaRPr lang="en-IN"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756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01DEC-1FF0-8D3F-1802-7121D79FFB85}"/>
            </a:ext>
          </a:extLst>
        </p:cNvPr>
        <p:cNvGrpSpPr/>
        <p:nvPr/>
      </p:nvGrpSpPr>
      <p:grpSpPr>
        <a:xfrm>
          <a:off x="0" y="0"/>
          <a:ext cx="0" cy="0"/>
          <a:chOff x="0" y="0"/>
          <a:chExt cx="0" cy="0"/>
        </a:xfrm>
      </p:grpSpPr>
      <p:sp>
        <p:nvSpPr>
          <p:cNvPr id="18" name="Text 0">
            <a:extLst>
              <a:ext uri="{FF2B5EF4-FFF2-40B4-BE49-F238E27FC236}">
                <a16:creationId xmlns:a16="http://schemas.microsoft.com/office/drawing/2014/main" id="{33D1B9E3-29AC-4BB2-38FE-918174735381}"/>
              </a:ext>
            </a:extLst>
          </p:cNvPr>
          <p:cNvSpPr/>
          <p:nvPr/>
        </p:nvSpPr>
        <p:spPr>
          <a:xfrm>
            <a:off x="525295" y="311286"/>
            <a:ext cx="11760178" cy="772658"/>
          </a:xfrm>
          <a:prstGeom prst="rect">
            <a:avLst/>
          </a:prstGeom>
          <a:noFill/>
          <a:ln/>
        </p:spPr>
        <p:txBody>
          <a:bodyPr wrap="square" lIns="0" tIns="0" rIns="0" bIns="0" rtlCol="0" anchor="t">
            <a:noAutofit/>
          </a:bodyPr>
          <a:lstStyle/>
          <a:p>
            <a:r>
              <a:rPr lang="en-IN" sz="3200" b="1" dirty="0">
                <a:ln w="0"/>
                <a:solidFill>
                  <a:schemeClr val="accent1">
                    <a:lumMod val="50000"/>
                  </a:schemeClr>
                </a:solidFill>
                <a:effectLst>
                  <a:outerShdw blurRad="38100" dist="19050" dir="2700000" algn="tl" rotWithShape="0">
                    <a:schemeClr val="dk1">
                      <a:alpha val="40000"/>
                    </a:schemeClr>
                  </a:outerShdw>
                </a:effectLst>
              </a:rPr>
              <a:t>OBJECTIVE:</a:t>
            </a:r>
            <a:endParaRPr lang="en-US" sz="3200" b="1" dirty="0">
              <a:ln w="0"/>
              <a:solidFill>
                <a:schemeClr val="accent1">
                  <a:lumMod val="50000"/>
                </a:schemeClr>
              </a:solidFill>
              <a:effectLst>
                <a:outerShdw blurRad="38100" dist="19050" dir="2700000" algn="tl" rotWithShape="0">
                  <a:schemeClr val="dk1">
                    <a:alpha val="40000"/>
                  </a:schemeClr>
                </a:outerShdw>
              </a:effectLst>
            </a:endParaRPr>
          </a:p>
        </p:txBody>
      </p:sp>
      <p:sp>
        <p:nvSpPr>
          <p:cNvPr id="20" name="Text 11">
            <a:extLst>
              <a:ext uri="{FF2B5EF4-FFF2-40B4-BE49-F238E27FC236}">
                <a16:creationId xmlns:a16="http://schemas.microsoft.com/office/drawing/2014/main" id="{40F789F3-AB0C-F1D9-1D2D-682C55691C0F}"/>
              </a:ext>
            </a:extLst>
          </p:cNvPr>
          <p:cNvSpPr/>
          <p:nvPr/>
        </p:nvSpPr>
        <p:spPr>
          <a:xfrm>
            <a:off x="525295" y="914400"/>
            <a:ext cx="10853905" cy="5323841"/>
          </a:xfrm>
          <a:prstGeom prst="roundRect">
            <a:avLst>
              <a:gd name="adj" fmla="val 15513"/>
            </a:avLst>
          </a:prstGeom>
          <a:solidFill>
            <a:srgbClr val="0F1B2D"/>
          </a:solidFill>
          <a:ln/>
        </p:spPr>
        <p:txBody>
          <a:bodyPr wrap="square" lIns="242203" tIns="191403" rIns="0" bIns="166003" rtlCol="0" anchor="t">
            <a:normAutofit/>
          </a:bodyPr>
          <a:lstStyle/>
          <a:p>
            <a:pPr marL="342900" lvl="0" indent="-342900">
              <a:lnSpc>
                <a:spcPct val="150000"/>
              </a:lnSpc>
              <a:buFont typeface="Arial" panose="020B0604020202020204" pitchFamily="34" charset="0"/>
              <a:buChar char="•"/>
            </a:pPr>
            <a:r>
              <a:rPr lang="en-IN" sz="2400" dirty="0">
                <a:solidFill>
                  <a:schemeClr val="bg1"/>
                </a:solidFill>
                <a:latin typeface="Times New Roman" panose="02020603050405020304" pitchFamily="18" charset="0"/>
                <a:cs typeface="Times New Roman" panose="02020603050405020304" pitchFamily="18" charset="0"/>
              </a:rPr>
              <a:t>Help students spot fake job and internship offers before paying any money.</a:t>
            </a:r>
          </a:p>
          <a:p>
            <a:pPr marL="342900" lvl="0" indent="-342900">
              <a:lnSpc>
                <a:spcPct val="150000"/>
              </a:lnSpc>
              <a:buFont typeface="Arial" panose="020B0604020202020204" pitchFamily="34" charset="0"/>
              <a:buChar char="•"/>
            </a:pPr>
            <a:r>
              <a:rPr lang="en-IN" sz="2400" dirty="0">
                <a:solidFill>
                  <a:schemeClr val="bg1"/>
                </a:solidFill>
                <a:latin typeface="Times New Roman" panose="02020603050405020304" pitchFamily="18" charset="0"/>
                <a:cs typeface="Times New Roman" panose="02020603050405020304" pitchFamily="18" charset="0"/>
              </a:rPr>
              <a:t>Give a clear risk score (Low, Uncertain or High) and explain why, with highlighted risky words.</a:t>
            </a:r>
          </a:p>
          <a:p>
            <a:pPr marL="342900" lvl="0" indent="-342900">
              <a:lnSpc>
                <a:spcPct val="150000"/>
              </a:lnSpc>
              <a:buFont typeface="Arial" panose="020B0604020202020204" pitchFamily="34" charset="0"/>
              <a:buChar char="•"/>
            </a:pPr>
            <a:r>
              <a:rPr lang="en-IN" sz="2400" dirty="0">
                <a:solidFill>
                  <a:schemeClr val="bg1"/>
                </a:solidFill>
                <a:latin typeface="Times New Roman" panose="02020603050405020304" pitchFamily="18" charset="0"/>
                <a:cs typeface="Times New Roman" panose="02020603050405020304" pitchFamily="18" charset="0"/>
              </a:rPr>
              <a:t>Read screenshots and PDF offer letters, and help recruiters verify resumes.</a:t>
            </a:r>
          </a:p>
          <a:p>
            <a:pPr marL="342900" lvl="0" indent="-342900">
              <a:lnSpc>
                <a:spcPct val="150000"/>
              </a:lnSpc>
              <a:buFont typeface="Arial" panose="020B0604020202020204" pitchFamily="34" charset="0"/>
              <a:buChar char="•"/>
            </a:pPr>
            <a:r>
              <a:rPr lang="en-IN" sz="2400" dirty="0">
                <a:solidFill>
                  <a:schemeClr val="bg1"/>
                </a:solidFill>
                <a:latin typeface="Times New Roman" panose="02020603050405020304" pitchFamily="18" charset="0"/>
                <a:cs typeface="Times New Roman" panose="02020603050405020304" pitchFamily="18" charset="0"/>
              </a:rPr>
              <a:t>Make reporting easy with a complaint draft and a safe reply, only when an offer looks like a scam.</a:t>
            </a:r>
          </a:p>
          <a:p>
            <a:pPr marL="342900" lvl="0" indent="-342900">
              <a:lnSpc>
                <a:spcPct val="150000"/>
              </a:lnSpc>
              <a:buFont typeface="Arial" panose="020B0604020202020204" pitchFamily="34" charset="0"/>
              <a:buChar char="•"/>
            </a:pPr>
            <a:r>
              <a:rPr lang="en-IN" sz="2400" dirty="0">
                <a:solidFill>
                  <a:schemeClr val="bg1"/>
                </a:solidFill>
                <a:latin typeface="Times New Roman" panose="02020603050405020304" pitchFamily="18" charset="0"/>
                <a:cs typeface="Times New Roman" panose="02020603050405020304" pitchFamily="18" charset="0"/>
              </a:rPr>
              <a:t>Spread awareness with company reviews, a live dashboard and the “Scam or Real?” game.</a:t>
            </a:r>
            <a:endParaRPr lang="en-IN" sz="2400" dirty="0">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5934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815975" y="784224"/>
            <a:ext cx="11469497" cy="299720"/>
          </a:xfrm>
          <a:prstGeom prst="rect">
            <a:avLst/>
          </a:prstGeom>
          <a:noFill/>
          <a:ln/>
        </p:spPr>
        <p:txBody>
          <a:bodyPr wrap="square" lIns="0" tIns="0" rIns="0" bIns="0" rtlCol="0" anchor="t">
            <a:noAutofit/>
          </a:bodyPr>
          <a:lstStyle/>
          <a:p>
            <a:pPr marL="0" indent="0" algn="l">
              <a:lnSpc>
                <a:spcPts val="1680"/>
              </a:lnSpc>
              <a:buNone/>
            </a:pPr>
            <a:r>
              <a:rPr lang="en-US" sz="3200" b="1" kern="0" spc="150" dirty="0">
                <a:solidFill>
                  <a:srgbClr val="0B7A6D"/>
                </a:solidFill>
                <a:latin typeface="IBM Plex Sans" pitchFamily="34" charset="0"/>
                <a:ea typeface="IBM Plex Sans" pitchFamily="34" charset="-122"/>
                <a:cs typeface="IBM Plex Sans" pitchFamily="34" charset="-120"/>
              </a:rPr>
              <a:t>THE PROBLEM</a:t>
            </a:r>
            <a:endParaRPr lang="en-US" sz="3200" dirty="0"/>
          </a:p>
        </p:txBody>
      </p:sp>
      <p:sp>
        <p:nvSpPr>
          <p:cNvPr id="4" name="Shape 2"/>
          <p:cNvSpPr/>
          <p:nvPr/>
        </p:nvSpPr>
        <p:spPr>
          <a:xfrm>
            <a:off x="815975" y="1877695"/>
            <a:ext cx="3380264" cy="2040890"/>
          </a:xfrm>
          <a:prstGeom prst="roundRect">
            <a:avLst>
              <a:gd name="adj" fmla="val 348"/>
            </a:avLst>
          </a:prstGeom>
          <a:solidFill>
            <a:srgbClr val="FFFFFF"/>
          </a:solidFill>
          <a:ln w="6350">
            <a:solidFill>
              <a:srgbClr val="DDE3EA"/>
            </a:solidFill>
            <a:prstDash val="solid"/>
          </a:ln>
        </p:spPr>
        <p:txBody>
          <a:bodyPr/>
          <a:lstStyle/>
          <a:p>
            <a:endParaRPr lang="en-IN" dirty="0"/>
          </a:p>
        </p:txBody>
      </p:sp>
      <p:pic>
        <p:nvPicPr>
          <p:cNvPr id="5" name="Image 0" descr="Warning"/>
          <p:cNvPicPr>
            <a:picLocks noChangeAspect="1"/>
          </p:cNvPicPr>
          <p:nvPr/>
        </p:nvPicPr>
        <p:blipFill>
          <a:blip r:embed="rId3"/>
          <a:srcRect/>
          <a:stretch/>
        </p:blipFill>
        <p:spPr>
          <a:xfrm>
            <a:off x="1046480" y="2108200"/>
            <a:ext cx="355600" cy="355600"/>
          </a:xfrm>
          <a:prstGeom prst="rect">
            <a:avLst/>
          </a:prstGeom>
        </p:spPr>
      </p:pic>
      <p:sp>
        <p:nvSpPr>
          <p:cNvPr id="6" name="Text 3"/>
          <p:cNvSpPr/>
          <p:nvPr/>
        </p:nvSpPr>
        <p:spPr>
          <a:xfrm>
            <a:off x="1046480" y="2565400"/>
            <a:ext cx="300683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Registration fee scams</a:t>
            </a:r>
            <a:endParaRPr lang="en-US" sz="1800" dirty="0"/>
          </a:p>
        </p:txBody>
      </p:sp>
      <p:sp>
        <p:nvSpPr>
          <p:cNvPr id="7" name="Text 4"/>
          <p:cNvSpPr/>
          <p:nvPr/>
        </p:nvSpPr>
        <p:spPr>
          <a:xfrm>
            <a:off x="1046480" y="2941320"/>
            <a:ext cx="300683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46A"/>
                </a:solidFill>
                <a:latin typeface="IBM Plex Sans" pitchFamily="34" charset="0"/>
                <a:ea typeface="IBM Plex Sans" pitchFamily="34" charset="-122"/>
                <a:cs typeface="IBM Plex Sans" pitchFamily="34" charset="-120"/>
              </a:rPr>
              <a:t>Students are asked to pay a fee or deposit to confirm a job that does not exist.</a:t>
            </a:r>
            <a:endParaRPr lang="en-US" sz="1400" dirty="0"/>
          </a:p>
        </p:txBody>
      </p:sp>
      <p:sp>
        <p:nvSpPr>
          <p:cNvPr id="8" name="Shape 5"/>
          <p:cNvSpPr/>
          <p:nvPr/>
        </p:nvSpPr>
        <p:spPr>
          <a:xfrm>
            <a:off x="4405789" y="1877695"/>
            <a:ext cx="3380343" cy="2040890"/>
          </a:xfrm>
          <a:prstGeom prst="roundRect">
            <a:avLst>
              <a:gd name="adj" fmla="val 6067"/>
            </a:avLst>
          </a:prstGeom>
          <a:solidFill>
            <a:srgbClr val="FFFFFF"/>
          </a:solidFill>
          <a:ln w="6350">
            <a:solidFill>
              <a:srgbClr val="DDE3EA"/>
            </a:solidFill>
            <a:prstDash val="solid"/>
          </a:ln>
        </p:spPr>
      </p:sp>
      <p:pic>
        <p:nvPicPr>
          <p:cNvPr id="9" name="Image 1" descr="Lock"/>
          <p:cNvPicPr>
            <a:picLocks noChangeAspect="1"/>
          </p:cNvPicPr>
          <p:nvPr/>
        </p:nvPicPr>
        <p:blipFill>
          <a:blip r:embed="rId4"/>
          <a:srcRect/>
          <a:stretch/>
        </p:blipFill>
        <p:spPr>
          <a:xfrm>
            <a:off x="4636294" y="2108200"/>
            <a:ext cx="355600" cy="355600"/>
          </a:xfrm>
          <a:prstGeom prst="rect">
            <a:avLst/>
          </a:prstGeom>
        </p:spPr>
      </p:pic>
      <p:sp>
        <p:nvSpPr>
          <p:cNvPr id="10" name="Text 6"/>
          <p:cNvSpPr/>
          <p:nvPr/>
        </p:nvSpPr>
        <p:spPr>
          <a:xfrm>
            <a:off x="4636294" y="2565400"/>
            <a:ext cx="300691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Document harvesting</a:t>
            </a:r>
            <a:endParaRPr lang="en-US" sz="1800" dirty="0"/>
          </a:p>
        </p:txBody>
      </p:sp>
      <p:sp>
        <p:nvSpPr>
          <p:cNvPr id="11" name="Text 7"/>
          <p:cNvSpPr/>
          <p:nvPr/>
        </p:nvSpPr>
        <p:spPr>
          <a:xfrm>
            <a:off x="4636294" y="2941320"/>
            <a:ext cx="300691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46A"/>
                </a:solidFill>
                <a:latin typeface="IBM Plex Sans" pitchFamily="34" charset="0"/>
                <a:ea typeface="IBM Plex Sans" pitchFamily="34" charset="-122"/>
                <a:cs typeface="IBM Plex Sans" pitchFamily="34" charset="-120"/>
              </a:rPr>
              <a:t>Aadhaar, PAN and bank details are collected through fake offer letters and forms.</a:t>
            </a:r>
            <a:endParaRPr lang="en-US" sz="1400" dirty="0"/>
          </a:p>
        </p:txBody>
      </p:sp>
      <p:sp>
        <p:nvSpPr>
          <p:cNvPr id="12" name="Shape 8"/>
          <p:cNvSpPr/>
          <p:nvPr/>
        </p:nvSpPr>
        <p:spPr>
          <a:xfrm>
            <a:off x="7995682" y="1877695"/>
            <a:ext cx="3380343" cy="2040890"/>
          </a:xfrm>
          <a:prstGeom prst="roundRect">
            <a:avLst>
              <a:gd name="adj" fmla="val 6067"/>
            </a:avLst>
          </a:prstGeom>
          <a:solidFill>
            <a:srgbClr val="FFFFFF"/>
          </a:solidFill>
          <a:ln w="6350">
            <a:solidFill>
              <a:srgbClr val="DDE3EA"/>
            </a:solidFill>
            <a:prstDash val="solid"/>
          </a:ln>
        </p:spPr>
      </p:sp>
      <p:pic>
        <p:nvPicPr>
          <p:cNvPr id="13" name="Image 2" descr="Chat"/>
          <p:cNvPicPr>
            <a:picLocks noChangeAspect="1"/>
          </p:cNvPicPr>
          <p:nvPr/>
        </p:nvPicPr>
        <p:blipFill>
          <a:blip r:embed="rId5"/>
          <a:srcRect/>
          <a:stretch/>
        </p:blipFill>
        <p:spPr>
          <a:xfrm>
            <a:off x="8226187" y="2108200"/>
            <a:ext cx="355600" cy="355600"/>
          </a:xfrm>
          <a:prstGeom prst="rect">
            <a:avLst/>
          </a:prstGeom>
        </p:spPr>
      </p:pic>
      <p:sp>
        <p:nvSpPr>
          <p:cNvPr id="14" name="Text 9"/>
          <p:cNvSpPr/>
          <p:nvPr/>
        </p:nvSpPr>
        <p:spPr>
          <a:xfrm>
            <a:off x="8226187" y="2565400"/>
            <a:ext cx="31466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Hidden in chat screenshots</a:t>
            </a:r>
            <a:endParaRPr lang="en-US" sz="1800" dirty="0"/>
          </a:p>
        </p:txBody>
      </p:sp>
      <p:sp>
        <p:nvSpPr>
          <p:cNvPr id="15" name="Text 10"/>
          <p:cNvSpPr/>
          <p:nvPr/>
        </p:nvSpPr>
        <p:spPr>
          <a:xfrm>
            <a:off x="8226187" y="2941320"/>
            <a:ext cx="300691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46A"/>
                </a:solidFill>
                <a:latin typeface="IBM Plex Sans" pitchFamily="34" charset="0"/>
                <a:ea typeface="IBM Plex Sans" pitchFamily="34" charset="-122"/>
                <a:cs typeface="IBM Plex Sans" pitchFamily="34" charset="-120"/>
              </a:rPr>
              <a:t>Most scams arrive as WhatsApp or Telegram messages that are hard to verify.</a:t>
            </a:r>
            <a:endParaRPr lang="en-US" sz="1400" dirty="0"/>
          </a:p>
        </p:txBody>
      </p:sp>
      <p:sp>
        <p:nvSpPr>
          <p:cNvPr id="16" name="Text 11"/>
          <p:cNvSpPr/>
          <p:nvPr/>
        </p:nvSpPr>
        <p:spPr>
          <a:xfrm>
            <a:off x="812800" y="4226560"/>
            <a:ext cx="10566400" cy="2011681"/>
          </a:xfrm>
          <a:prstGeom prst="roundRect">
            <a:avLst>
              <a:gd name="adj" fmla="val 16964"/>
            </a:avLst>
          </a:prstGeom>
          <a:solidFill>
            <a:srgbClr val="0F1B2D"/>
          </a:solidFill>
          <a:ln/>
        </p:spPr>
        <p:txBody>
          <a:bodyPr wrap="square" lIns="242203" tIns="191403" rIns="0" bIns="166003" rtlCol="0" anchor="t">
            <a:normAutofit/>
          </a:bodyPr>
          <a:lstStyle/>
          <a:p>
            <a:pPr marL="285750" lvl="0" indent="-285750">
              <a:buFont typeface="Arial" panose="020B0604020202020204" pitchFamily="34" charset="0"/>
              <a:buChar char="•"/>
            </a:pPr>
            <a:r>
              <a:rPr lang="en-IN" sz="1600" dirty="0">
                <a:solidFill>
                  <a:schemeClr val="bg1"/>
                </a:solidFill>
              </a:rPr>
              <a:t>Many students get fake job offers.</a:t>
            </a:r>
          </a:p>
          <a:p>
            <a:pPr marL="285750" lvl="0" indent="-285750">
              <a:buFont typeface="Arial" panose="020B0604020202020204" pitchFamily="34" charset="0"/>
              <a:buChar char="•"/>
            </a:pPr>
            <a:r>
              <a:rPr lang="en-IN" sz="1600" dirty="0">
                <a:solidFill>
                  <a:schemeClr val="bg1"/>
                </a:solidFill>
              </a:rPr>
              <a:t>Scammers ask for a fee to “confirm” the job.</a:t>
            </a:r>
          </a:p>
          <a:p>
            <a:pPr marL="285750" lvl="0" indent="-285750">
              <a:buFont typeface="Arial" panose="020B0604020202020204" pitchFamily="34" charset="0"/>
              <a:buChar char="•"/>
            </a:pPr>
            <a:r>
              <a:rPr lang="en-IN" sz="1600" dirty="0">
                <a:solidFill>
                  <a:schemeClr val="bg1"/>
                </a:solidFill>
              </a:rPr>
              <a:t>They collect Aadhaar, PAN and bank details.</a:t>
            </a:r>
          </a:p>
          <a:p>
            <a:pPr marL="285750" lvl="0" indent="-285750">
              <a:buFont typeface="Arial" panose="020B0604020202020204" pitchFamily="34" charset="0"/>
              <a:buChar char="•"/>
            </a:pPr>
            <a:r>
              <a:rPr lang="en-IN" sz="1600" dirty="0">
                <a:solidFill>
                  <a:schemeClr val="bg1"/>
                </a:solidFill>
              </a:rPr>
              <a:t>Most scams come as WhatsApp or Telegram messages.</a:t>
            </a:r>
          </a:p>
          <a:p>
            <a:pPr marL="285750" lvl="0" indent="-285750">
              <a:buFont typeface="Arial" panose="020B0604020202020204" pitchFamily="34" charset="0"/>
              <a:buChar char="•"/>
            </a:pPr>
            <a:r>
              <a:rPr lang="en-IN" sz="1600" dirty="0">
                <a:solidFill>
                  <a:schemeClr val="bg1"/>
                </a:solidFill>
              </a:rPr>
              <a:t>Recruiters also get fake resumes.</a:t>
            </a:r>
          </a:p>
        </p:txBody>
      </p:sp>
      <p:sp>
        <p:nvSpPr>
          <p:cNvPr id="17" name="Text 12"/>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BM Plex Sans" pitchFamily="34" charset="0"/>
                <a:ea typeface="IBM Plex Sans" pitchFamily="34" charset="-122"/>
                <a:cs typeface="IBM Plex Sans" pitchFamily="34" charset="-120"/>
              </a:rPr>
              <a:t>ScamShield AI · 02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Autofit/>
          </a:bodyPr>
          <a:lstStyle/>
          <a:p>
            <a:pPr marL="0" indent="0" algn="l">
              <a:lnSpc>
                <a:spcPts val="1680"/>
              </a:lnSpc>
              <a:buNone/>
            </a:pPr>
            <a:r>
              <a:rPr lang="en-US" sz="3200" b="1" kern="0" spc="150" dirty="0">
                <a:solidFill>
                  <a:srgbClr val="3DD6C3"/>
                </a:solidFill>
                <a:latin typeface="IBM Plex Sans" pitchFamily="34" charset="0"/>
                <a:ea typeface="IBM Plex Sans" pitchFamily="34" charset="-122"/>
                <a:cs typeface="IBM Plex Sans" pitchFamily="34" charset="-120"/>
              </a:rPr>
              <a:t>THE SOLUTION</a:t>
            </a:r>
            <a:endParaRPr lang="en-US" sz="3200" dirty="0"/>
          </a:p>
        </p:txBody>
      </p:sp>
      <p:sp>
        <p:nvSpPr>
          <p:cNvPr id="4" name="Shape 2"/>
          <p:cNvSpPr/>
          <p:nvPr/>
        </p:nvSpPr>
        <p:spPr>
          <a:xfrm>
            <a:off x="946122" y="1972428"/>
            <a:ext cx="3126620" cy="2026920"/>
          </a:xfrm>
          <a:prstGeom prst="roundRect">
            <a:avLst>
              <a:gd name="adj" fmla="val 5049"/>
            </a:avLst>
          </a:prstGeom>
          <a:solidFill>
            <a:srgbClr val="17304D"/>
          </a:solidFill>
          <a:ln w="6350">
            <a:solidFill>
              <a:srgbClr val="28466B"/>
            </a:solidFill>
            <a:prstDash val="solid"/>
          </a:ln>
        </p:spPr>
        <p:txBody>
          <a:bodyPr/>
          <a:lstStyle/>
          <a:p>
            <a:endParaRPr lang="en-IN" dirty="0"/>
          </a:p>
        </p:txBody>
      </p:sp>
      <p:pic>
        <p:nvPicPr>
          <p:cNvPr id="5" name="Image 0" descr="Search"/>
          <p:cNvPicPr>
            <a:picLocks noChangeAspect="1"/>
          </p:cNvPicPr>
          <p:nvPr/>
        </p:nvPicPr>
        <p:blipFill>
          <a:blip r:embed="rId3"/>
          <a:srcRect/>
          <a:stretch/>
        </p:blipFill>
        <p:spPr>
          <a:xfrm>
            <a:off x="967537" y="1904423"/>
            <a:ext cx="406400" cy="406400"/>
          </a:xfrm>
          <a:prstGeom prst="rect">
            <a:avLst/>
          </a:prstGeom>
        </p:spPr>
      </p:pic>
      <p:sp>
        <p:nvSpPr>
          <p:cNvPr id="6" name="Text 3"/>
          <p:cNvSpPr/>
          <p:nvPr/>
        </p:nvSpPr>
        <p:spPr>
          <a:xfrm>
            <a:off x="1071880" y="2641600"/>
            <a:ext cx="2954507"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6F8"/>
                </a:solidFill>
                <a:latin typeface="IBM Plex Sans" pitchFamily="34" charset="0"/>
                <a:ea typeface="IBM Plex Sans" pitchFamily="34" charset="-122"/>
                <a:cs typeface="IBM Plex Sans" pitchFamily="34" charset="-120"/>
              </a:rPr>
              <a:t>Detect</a:t>
            </a:r>
            <a:endParaRPr lang="en-US" sz="2200" dirty="0"/>
          </a:p>
        </p:txBody>
      </p:sp>
      <p:sp>
        <p:nvSpPr>
          <p:cNvPr id="7" name="Text 4"/>
          <p:cNvSpPr/>
          <p:nvPr/>
        </p:nvSpPr>
        <p:spPr>
          <a:xfrm>
            <a:off x="985824" y="3078479"/>
            <a:ext cx="3040564" cy="9589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4D6"/>
                </a:solidFill>
                <a:latin typeface="IBM Plex Sans" pitchFamily="34" charset="0"/>
                <a:ea typeface="IBM Plex Sans" pitchFamily="34" charset="-122"/>
                <a:cs typeface="IBM Plex Sans" pitchFamily="34" charset="-120"/>
              </a:rPr>
              <a:t>A risk score from an ML model, a rule engine and a domain check, with an honest Uncertain band.</a:t>
            </a:r>
            <a:endParaRPr lang="en-US" sz="1400" dirty="0"/>
          </a:p>
        </p:txBody>
      </p:sp>
      <p:sp>
        <p:nvSpPr>
          <p:cNvPr id="8" name="Shape 5"/>
          <p:cNvSpPr/>
          <p:nvPr/>
        </p:nvSpPr>
        <p:spPr>
          <a:xfrm>
            <a:off x="4282293" y="1877695"/>
            <a:ext cx="3503840" cy="1972945"/>
          </a:xfrm>
          <a:prstGeom prst="roundRect">
            <a:avLst>
              <a:gd name="adj" fmla="val 5049"/>
            </a:avLst>
          </a:prstGeom>
          <a:solidFill>
            <a:srgbClr val="17304D"/>
          </a:solidFill>
          <a:ln w="6350">
            <a:solidFill>
              <a:srgbClr val="28466B"/>
            </a:solidFill>
            <a:prstDash val="solid"/>
          </a:ln>
        </p:spPr>
      </p:sp>
      <p:pic>
        <p:nvPicPr>
          <p:cNvPr id="9" name="Image 1" descr="Lightbulb"/>
          <p:cNvPicPr>
            <a:picLocks noChangeAspect="1"/>
          </p:cNvPicPr>
          <p:nvPr/>
        </p:nvPicPr>
        <p:blipFill>
          <a:blip r:embed="rId4"/>
          <a:srcRect/>
          <a:stretch/>
        </p:blipFill>
        <p:spPr>
          <a:xfrm>
            <a:off x="4661694" y="2133600"/>
            <a:ext cx="406400" cy="406400"/>
          </a:xfrm>
          <a:prstGeom prst="rect">
            <a:avLst/>
          </a:prstGeom>
        </p:spPr>
      </p:pic>
      <p:sp>
        <p:nvSpPr>
          <p:cNvPr id="10" name="Text 6"/>
          <p:cNvSpPr/>
          <p:nvPr/>
        </p:nvSpPr>
        <p:spPr>
          <a:xfrm>
            <a:off x="4661694" y="2641600"/>
            <a:ext cx="295458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6F8"/>
                </a:solidFill>
                <a:latin typeface="IBM Plex Sans" pitchFamily="34" charset="0"/>
                <a:ea typeface="IBM Plex Sans" pitchFamily="34" charset="-122"/>
                <a:cs typeface="IBM Plex Sans" pitchFamily="34" charset="-120"/>
              </a:rPr>
              <a:t>Explain</a:t>
            </a:r>
            <a:endParaRPr lang="en-US" sz="2200" dirty="0"/>
          </a:p>
        </p:txBody>
      </p:sp>
      <p:sp>
        <p:nvSpPr>
          <p:cNvPr id="11" name="Text 7"/>
          <p:cNvSpPr/>
          <p:nvPr/>
        </p:nvSpPr>
        <p:spPr>
          <a:xfrm>
            <a:off x="4661694" y="3078480"/>
            <a:ext cx="2954589"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4D6"/>
                </a:solidFill>
                <a:latin typeface="IBM Plex Sans" pitchFamily="34" charset="0"/>
                <a:ea typeface="IBM Plex Sans" pitchFamily="34" charset="-122"/>
                <a:cs typeface="IBM Plex Sans" pitchFamily="34" charset="-120"/>
              </a:rPr>
              <a:t>Highlighted words and a red-flag list show exactly why an offer looks risky.</a:t>
            </a:r>
            <a:endParaRPr lang="en-US" sz="1400" dirty="0"/>
          </a:p>
        </p:txBody>
      </p:sp>
      <p:sp>
        <p:nvSpPr>
          <p:cNvPr id="12" name="Shape 8"/>
          <p:cNvSpPr/>
          <p:nvPr/>
        </p:nvSpPr>
        <p:spPr>
          <a:xfrm>
            <a:off x="7995684" y="1877695"/>
            <a:ext cx="3380341" cy="2026920"/>
          </a:xfrm>
          <a:prstGeom prst="roundRect">
            <a:avLst>
              <a:gd name="adj" fmla="val 5049"/>
            </a:avLst>
          </a:prstGeom>
          <a:solidFill>
            <a:srgbClr val="17304D"/>
          </a:solidFill>
          <a:ln w="6350">
            <a:solidFill>
              <a:srgbClr val="28466B"/>
            </a:solidFill>
            <a:prstDash val="solid"/>
          </a:ln>
        </p:spPr>
      </p:sp>
      <p:pic>
        <p:nvPicPr>
          <p:cNvPr id="13" name="Image 2" descr="PaperPlane"/>
          <p:cNvPicPr>
            <a:picLocks noChangeAspect="1"/>
          </p:cNvPicPr>
          <p:nvPr/>
        </p:nvPicPr>
        <p:blipFill>
          <a:blip r:embed="rId5"/>
          <a:srcRect/>
          <a:stretch/>
        </p:blipFill>
        <p:spPr>
          <a:xfrm>
            <a:off x="8251587" y="2133600"/>
            <a:ext cx="406400" cy="406400"/>
          </a:xfrm>
          <a:prstGeom prst="rect">
            <a:avLst/>
          </a:prstGeom>
        </p:spPr>
      </p:pic>
      <p:sp>
        <p:nvSpPr>
          <p:cNvPr id="14" name="Text 9"/>
          <p:cNvSpPr/>
          <p:nvPr/>
        </p:nvSpPr>
        <p:spPr>
          <a:xfrm>
            <a:off x="8251587" y="2641600"/>
            <a:ext cx="295458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6F8"/>
                </a:solidFill>
                <a:latin typeface="IBM Plex Sans" pitchFamily="34" charset="0"/>
                <a:ea typeface="IBM Plex Sans" pitchFamily="34" charset="-122"/>
                <a:cs typeface="IBM Plex Sans" pitchFamily="34" charset="-120"/>
              </a:rPr>
              <a:t>Report</a:t>
            </a:r>
            <a:endParaRPr lang="en-US" sz="2200" dirty="0"/>
          </a:p>
        </p:txBody>
      </p:sp>
      <p:sp>
        <p:nvSpPr>
          <p:cNvPr id="15" name="Text 10"/>
          <p:cNvSpPr/>
          <p:nvPr/>
        </p:nvSpPr>
        <p:spPr>
          <a:xfrm>
            <a:off x="8251587" y="3078480"/>
            <a:ext cx="2954589"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4D6"/>
                </a:solidFill>
                <a:latin typeface="IBM Plex Sans" pitchFamily="34" charset="0"/>
                <a:ea typeface="IBM Plex Sans" pitchFamily="34" charset="-122"/>
                <a:cs typeface="IBM Plex Sans" pitchFamily="34" charset="-120"/>
              </a:rPr>
              <a:t>A complaint draft with cybercrime.gov.in and 1930 helpline details, plus a shareable alert card.</a:t>
            </a:r>
            <a:endParaRPr lang="en-US" sz="1400" dirty="0"/>
          </a:p>
        </p:txBody>
      </p:sp>
      <p:sp>
        <p:nvSpPr>
          <p:cNvPr id="17" name="Text 12"/>
          <p:cNvSpPr/>
          <p:nvPr/>
        </p:nvSpPr>
        <p:spPr>
          <a:xfrm>
            <a:off x="486383" y="6369166"/>
            <a:ext cx="11209810" cy="24891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0B8"/>
                </a:solidFill>
                <a:latin typeface="IBM Plex Sans" pitchFamily="34" charset="0"/>
                <a:ea typeface="IBM Plex Sans" pitchFamily="34" charset="-122"/>
                <a:cs typeface="IBM Plex Sans" pitchFamily="34" charset="-120"/>
              </a:rPr>
              <a:t>ScamShield AI · 03</a:t>
            </a:r>
            <a:endParaRPr lang="en-US" sz="1200" dirty="0"/>
          </a:p>
        </p:txBody>
      </p:sp>
      <p:sp>
        <p:nvSpPr>
          <p:cNvPr id="25" name="TextBox 24">
            <a:extLst>
              <a:ext uri="{FF2B5EF4-FFF2-40B4-BE49-F238E27FC236}">
                <a16:creationId xmlns:a16="http://schemas.microsoft.com/office/drawing/2014/main" id="{B97737AC-2B01-29BA-5005-F9B783858F95}"/>
              </a:ext>
            </a:extLst>
          </p:cNvPr>
          <p:cNvSpPr txBox="1"/>
          <p:nvPr/>
        </p:nvSpPr>
        <p:spPr>
          <a:xfrm>
            <a:off x="985824" y="4113647"/>
            <a:ext cx="8155744" cy="2308324"/>
          </a:xfrm>
          <a:prstGeom prst="rect">
            <a:avLst/>
          </a:prstGeom>
          <a:noFill/>
        </p:spPr>
        <p:txBody>
          <a:bodyPr wrap="square">
            <a:spAutoFit/>
          </a:bodyPr>
          <a:lstStyle/>
          <a:p>
            <a:pPr marL="342900" lvl="0" indent="-342900" rtl="0">
              <a:buFont typeface="+mj-lt"/>
              <a:buAutoNum type="arabicPeriod"/>
            </a:pPr>
            <a:r>
              <a:rPr lang="en-IN" b="1" dirty="0">
                <a:solidFill>
                  <a:schemeClr val="bg1"/>
                </a:solidFill>
              </a:rPr>
              <a:t>Audience feedback:</a:t>
            </a:r>
            <a:r>
              <a:rPr lang="en-IN" dirty="0">
                <a:solidFill>
                  <a:schemeClr val="bg1"/>
                </a:solidFill>
              </a:rPr>
              <a:t> the audience votes in “Scam or Real”, and users can review companies they applied to or worked with</a:t>
            </a:r>
          </a:p>
          <a:p>
            <a:pPr marL="342900" lvl="0" indent="-342900" rtl="0">
              <a:buFont typeface="+mj-lt"/>
              <a:buAutoNum type="arabicPeriod"/>
            </a:pPr>
            <a:r>
              <a:rPr lang="en-IN" b="1" dirty="0">
                <a:solidFill>
                  <a:schemeClr val="bg1"/>
                </a:solidFill>
              </a:rPr>
              <a:t>Live dashboard:</a:t>
            </a:r>
            <a:r>
              <a:rPr lang="en-IN" dirty="0">
                <a:solidFill>
                  <a:schemeClr val="bg1"/>
                </a:solidFill>
              </a:rPr>
              <a:t> shows scans by scam type, top red-flag words and risk levels</a:t>
            </a:r>
          </a:p>
          <a:p>
            <a:pPr marL="342900" lvl="0" indent="-342900" rtl="0">
              <a:buFont typeface="+mj-lt"/>
              <a:buAutoNum type="arabicPeriod"/>
            </a:pPr>
            <a:r>
              <a:rPr lang="en-IN" b="1" dirty="0">
                <a:solidFill>
                  <a:schemeClr val="bg1"/>
                </a:solidFill>
              </a:rPr>
              <a:t>One-click complaint draft:</a:t>
            </a:r>
            <a:r>
              <a:rPr lang="en-IN" dirty="0">
                <a:solidFill>
                  <a:schemeClr val="bg1"/>
                </a:solidFill>
              </a:rPr>
              <a:t> ready for cybercrime.gov.in, with the 1930 helpline</a:t>
            </a:r>
          </a:p>
          <a:p>
            <a:pPr marL="342900" lvl="0" indent="-342900" rtl="0">
              <a:buFont typeface="+mj-lt"/>
              <a:buAutoNum type="arabicPeriod"/>
            </a:pPr>
            <a:r>
              <a:rPr lang="en-IN" b="1" dirty="0">
                <a:solidFill>
                  <a:schemeClr val="bg1"/>
                </a:solidFill>
              </a:rPr>
              <a:t>Safe reply helper:</a:t>
            </a:r>
            <a:r>
              <a:rPr lang="en-IN" dirty="0">
                <a:solidFill>
                  <a:schemeClr val="bg1"/>
                </a:solidFill>
              </a:rPr>
              <a:t> questions to ask a recruiter, like their official company email and interview 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Autofit/>
          </a:bodyPr>
          <a:lstStyle/>
          <a:p>
            <a:pPr marL="0" indent="0" algn="l">
              <a:lnSpc>
                <a:spcPts val="1680"/>
              </a:lnSpc>
              <a:buNone/>
            </a:pPr>
            <a:r>
              <a:rPr lang="en-US" sz="3200" b="1" kern="0" spc="150" dirty="0">
                <a:solidFill>
                  <a:srgbClr val="0B7A6D"/>
                </a:solidFill>
                <a:latin typeface="IBM Plex Sans" pitchFamily="34" charset="0"/>
                <a:ea typeface="IBM Plex Sans" pitchFamily="34" charset="-122"/>
                <a:cs typeface="IBM Plex Sans" pitchFamily="34" charset="-120"/>
              </a:rPr>
              <a:t>TWO SIDES OF THE PROBLEM</a:t>
            </a:r>
            <a:endParaRPr lang="en-US" sz="3200" dirty="0"/>
          </a:p>
        </p:txBody>
      </p:sp>
      <p:sp>
        <p:nvSpPr>
          <p:cNvPr id="3" name="Text 1"/>
          <p:cNvSpPr>
            <a:spLocks noGrp="1"/>
          </p:cNvSpPr>
          <p:nvPr>
            <p:ph type="title"/>
          </p:nvPr>
        </p:nvSpPr>
        <p:spPr>
          <a:xfrm>
            <a:off x="812800" y="1102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Rubik" pitchFamily="34" charset="0"/>
                <a:ea typeface="Rubik" pitchFamily="34" charset="-122"/>
                <a:cs typeface="Rubik" pitchFamily="34" charset="-120"/>
              </a:rPr>
              <a:t>Two modes, one platform</a:t>
            </a:r>
            <a:endParaRPr lang="en-US" sz="3200" dirty="0"/>
          </a:p>
        </p:txBody>
      </p:sp>
      <p:sp>
        <p:nvSpPr>
          <p:cNvPr id="4" name="Shape 2"/>
          <p:cNvSpPr/>
          <p:nvPr/>
        </p:nvSpPr>
        <p:spPr>
          <a:xfrm>
            <a:off x="815975" y="1877695"/>
            <a:ext cx="5175250" cy="3077210"/>
          </a:xfrm>
          <a:prstGeom prst="roundRect">
            <a:avLst>
              <a:gd name="adj" fmla="val 4024"/>
            </a:avLst>
          </a:prstGeom>
          <a:solidFill>
            <a:srgbClr val="FFFFFF"/>
          </a:solidFill>
          <a:ln w="6350">
            <a:solidFill>
              <a:srgbClr val="DDE3EA"/>
            </a:solidFill>
            <a:prstDash val="solid"/>
          </a:ln>
        </p:spPr>
      </p:sp>
      <p:pic>
        <p:nvPicPr>
          <p:cNvPr id="5" name="Image 0" descr="GraduationCap"/>
          <p:cNvPicPr>
            <a:picLocks noChangeAspect="1"/>
          </p:cNvPicPr>
          <p:nvPr/>
        </p:nvPicPr>
        <p:blipFill>
          <a:blip r:embed="rId3"/>
          <a:srcRect/>
          <a:stretch/>
        </p:blipFill>
        <p:spPr>
          <a:xfrm>
            <a:off x="1097280" y="2159000"/>
            <a:ext cx="406400" cy="406400"/>
          </a:xfrm>
          <a:prstGeom prst="rect">
            <a:avLst/>
          </a:prstGeom>
        </p:spPr>
      </p:pic>
      <p:sp>
        <p:nvSpPr>
          <p:cNvPr id="6" name="Text 3"/>
          <p:cNvSpPr/>
          <p:nvPr/>
        </p:nvSpPr>
        <p:spPr>
          <a:xfrm>
            <a:off x="1097280" y="2692400"/>
            <a:ext cx="475101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1B2D"/>
                </a:solidFill>
                <a:latin typeface="IBM Plex Sans" pitchFamily="34" charset="0"/>
                <a:ea typeface="IBM Plex Sans" pitchFamily="34" charset="-122"/>
                <a:cs typeface="IBM Plex Sans" pitchFamily="34" charset="-120"/>
              </a:rPr>
              <a:t>Student Mode</a:t>
            </a:r>
            <a:endParaRPr lang="en-US" sz="2200" dirty="0"/>
          </a:p>
        </p:txBody>
      </p:sp>
      <p:sp>
        <p:nvSpPr>
          <p:cNvPr id="7" name="Text 4"/>
          <p:cNvSpPr/>
          <p:nvPr/>
        </p:nvSpPr>
        <p:spPr>
          <a:xfrm>
            <a:off x="1097280" y="3154680"/>
            <a:ext cx="475101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46A"/>
                </a:solidFill>
                <a:latin typeface="IBM Plex Sans" pitchFamily="34" charset="0"/>
                <a:ea typeface="IBM Plex Sans" pitchFamily="34" charset="-122"/>
                <a:cs typeface="IBM Plex Sans" pitchFamily="34" charset="-120"/>
              </a:rPr>
              <a:t>For students and freshers</a:t>
            </a:r>
            <a:endParaRPr lang="en-US" sz="1400" dirty="0"/>
          </a:p>
        </p:txBody>
      </p:sp>
      <p:sp>
        <p:nvSpPr>
          <p:cNvPr id="8" name="Text 5"/>
          <p:cNvSpPr/>
          <p:nvPr/>
        </p:nvSpPr>
        <p:spPr>
          <a:xfrm>
            <a:off x="1168400" y="3530600"/>
            <a:ext cx="4672279" cy="116840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0F1B2D"/>
                </a:solidFill>
                <a:latin typeface="IBM Plex Sans" pitchFamily="34" charset="0"/>
                <a:ea typeface="IBM Plex Sans" pitchFamily="34" charset="-122"/>
                <a:cs typeface="IBM Plex Sans" pitchFamily="34" charset="-120"/>
              </a:rPr>
              <a:t>Paste a posting or a chat</a:t>
            </a:r>
            <a:endParaRPr lang="en-US" sz="1500" dirty="0"/>
          </a:p>
          <a:p>
            <a:pPr marL="182880" indent="-182880" algn="l">
              <a:lnSpc>
                <a:spcPts val="2250"/>
              </a:lnSpc>
              <a:buSzPct val="100000"/>
              <a:buChar char="•"/>
            </a:pPr>
            <a:r>
              <a:rPr lang="en-US" sz="1500" dirty="0">
                <a:solidFill>
                  <a:srgbClr val="0F1B2D"/>
                </a:solidFill>
                <a:latin typeface="IBM Plex Sans" pitchFamily="34" charset="0"/>
                <a:ea typeface="IBM Plex Sans" pitchFamily="34" charset="-122"/>
                <a:cs typeface="IBM Plex Sans" pitchFamily="34" charset="-120"/>
              </a:rPr>
              <a:t>Upload a screenshot or offer letter PDF</a:t>
            </a:r>
            <a:endParaRPr lang="en-US" sz="1500" dirty="0"/>
          </a:p>
          <a:p>
            <a:pPr marL="182880" indent="-182880" algn="l">
              <a:lnSpc>
                <a:spcPts val="2250"/>
              </a:lnSpc>
              <a:buSzPct val="100000"/>
              <a:buChar char="•"/>
            </a:pPr>
            <a:r>
              <a:rPr lang="en-US" sz="1500" dirty="0">
                <a:solidFill>
                  <a:srgbClr val="0F1B2D"/>
                </a:solidFill>
                <a:latin typeface="IBM Plex Sans" pitchFamily="34" charset="0"/>
                <a:ea typeface="IBM Plex Sans" pitchFamily="34" charset="-122"/>
                <a:cs typeface="IBM Plex Sans" pitchFamily="34" charset="-120"/>
              </a:rPr>
              <a:t>Get a risk score, scam type and advice</a:t>
            </a:r>
            <a:endParaRPr lang="en-US" sz="1500" dirty="0"/>
          </a:p>
          <a:p>
            <a:pPr marL="182880" indent="-182880" algn="l">
              <a:lnSpc>
                <a:spcPts val="2250"/>
              </a:lnSpc>
              <a:buSzPct val="100000"/>
              <a:buChar char="•"/>
            </a:pPr>
            <a:r>
              <a:rPr lang="en-US" sz="1500" dirty="0">
                <a:solidFill>
                  <a:srgbClr val="0F1B2D"/>
                </a:solidFill>
                <a:latin typeface="IBM Plex Sans" pitchFamily="34" charset="0"/>
                <a:ea typeface="IBM Plex Sans" pitchFamily="34" charset="-122"/>
                <a:cs typeface="IBM Plex Sans" pitchFamily="34" charset="-120"/>
              </a:rPr>
              <a:t>Draft a complaint</a:t>
            </a:r>
            <a:endParaRPr lang="en-US" sz="1500" dirty="0"/>
          </a:p>
        </p:txBody>
      </p:sp>
      <p:sp>
        <p:nvSpPr>
          <p:cNvPr id="9" name="Shape 6"/>
          <p:cNvSpPr/>
          <p:nvPr/>
        </p:nvSpPr>
        <p:spPr>
          <a:xfrm>
            <a:off x="6200775" y="1877695"/>
            <a:ext cx="5175250" cy="3077210"/>
          </a:xfrm>
          <a:prstGeom prst="roundRect">
            <a:avLst>
              <a:gd name="adj" fmla="val 4024"/>
            </a:avLst>
          </a:prstGeom>
          <a:solidFill>
            <a:srgbClr val="FFFFFF"/>
          </a:solidFill>
          <a:ln w="6350">
            <a:solidFill>
              <a:srgbClr val="DDE3EA"/>
            </a:solidFill>
            <a:prstDash val="solid"/>
          </a:ln>
        </p:spPr>
      </p:sp>
      <p:pic>
        <p:nvPicPr>
          <p:cNvPr id="10" name="Image 1" descr="Users"/>
          <p:cNvPicPr>
            <a:picLocks noChangeAspect="1"/>
          </p:cNvPicPr>
          <p:nvPr/>
        </p:nvPicPr>
        <p:blipFill>
          <a:blip r:embed="rId4"/>
          <a:srcRect/>
          <a:stretch/>
        </p:blipFill>
        <p:spPr>
          <a:xfrm>
            <a:off x="6482080" y="2159000"/>
            <a:ext cx="406400" cy="406400"/>
          </a:xfrm>
          <a:prstGeom prst="rect">
            <a:avLst/>
          </a:prstGeom>
        </p:spPr>
      </p:pic>
      <p:sp>
        <p:nvSpPr>
          <p:cNvPr id="11" name="Text 7"/>
          <p:cNvSpPr/>
          <p:nvPr/>
        </p:nvSpPr>
        <p:spPr>
          <a:xfrm>
            <a:off x="6482080" y="2692400"/>
            <a:ext cx="475101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1B2D"/>
                </a:solidFill>
                <a:latin typeface="IBM Plex Sans" pitchFamily="34" charset="0"/>
                <a:ea typeface="IBM Plex Sans" pitchFamily="34" charset="-122"/>
                <a:cs typeface="IBM Plex Sans" pitchFamily="34" charset="-120"/>
              </a:rPr>
              <a:t>Recruiter Mode</a:t>
            </a:r>
            <a:endParaRPr lang="en-US" sz="2200" dirty="0"/>
          </a:p>
        </p:txBody>
      </p:sp>
      <p:sp>
        <p:nvSpPr>
          <p:cNvPr id="12" name="Text 8"/>
          <p:cNvSpPr/>
          <p:nvPr/>
        </p:nvSpPr>
        <p:spPr>
          <a:xfrm>
            <a:off x="6482080" y="3154680"/>
            <a:ext cx="475101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46A"/>
                </a:solidFill>
                <a:latin typeface="IBM Plex Sans" pitchFamily="34" charset="0"/>
                <a:ea typeface="IBM Plex Sans" pitchFamily="34" charset="-122"/>
                <a:cs typeface="IBM Plex Sans" pitchFamily="34" charset="-120"/>
              </a:rPr>
              <a:t>For recruiters and placement cells</a:t>
            </a:r>
            <a:endParaRPr lang="en-US" sz="1400" dirty="0"/>
          </a:p>
        </p:txBody>
      </p:sp>
      <p:sp>
        <p:nvSpPr>
          <p:cNvPr id="13" name="Text 9"/>
          <p:cNvSpPr/>
          <p:nvPr/>
        </p:nvSpPr>
        <p:spPr>
          <a:xfrm>
            <a:off x="6553200" y="3530600"/>
            <a:ext cx="4672279" cy="116840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0F1B2D"/>
                </a:solidFill>
                <a:latin typeface="IBM Plex Sans" pitchFamily="34" charset="0"/>
                <a:ea typeface="IBM Plex Sans" pitchFamily="34" charset="-122"/>
                <a:cs typeface="IBM Plex Sans" pitchFamily="34" charset="-120"/>
              </a:rPr>
              <a:t>Upload a resume PDF</a:t>
            </a:r>
            <a:endParaRPr lang="en-US" sz="1500" dirty="0"/>
          </a:p>
          <a:p>
            <a:pPr marL="182880" indent="-182880" algn="l">
              <a:lnSpc>
                <a:spcPts val="2250"/>
              </a:lnSpc>
              <a:buSzPct val="100000"/>
              <a:buChar char="•"/>
            </a:pPr>
            <a:r>
              <a:rPr lang="en-US" sz="1500" dirty="0">
                <a:solidFill>
                  <a:srgbClr val="0F1B2D"/>
                </a:solidFill>
                <a:latin typeface="IBM Plex Sans" pitchFamily="34" charset="0"/>
                <a:ea typeface="IBM Plex Sans" pitchFamily="34" charset="-122"/>
                <a:cs typeface="IBM Plex Sans" pitchFamily="34" charset="-120"/>
              </a:rPr>
              <a:t>Check the timeline and hidden text</a:t>
            </a:r>
            <a:endParaRPr lang="en-US" sz="1500" dirty="0"/>
          </a:p>
          <a:p>
            <a:pPr marL="182880" indent="-182880" algn="l">
              <a:lnSpc>
                <a:spcPts val="2250"/>
              </a:lnSpc>
              <a:buSzPct val="100000"/>
              <a:buChar char="•"/>
            </a:pPr>
            <a:r>
              <a:rPr lang="en-US" sz="1500" dirty="0">
                <a:solidFill>
                  <a:srgbClr val="0F1B2D"/>
                </a:solidFill>
                <a:latin typeface="IBM Plex Sans" pitchFamily="34" charset="0"/>
                <a:ea typeface="IBM Plex Sans" pitchFamily="34" charset="-122"/>
                <a:cs typeface="IBM Plex Sans" pitchFamily="34" charset="-120"/>
              </a:rPr>
              <a:t>Compare with public resumes</a:t>
            </a:r>
            <a:endParaRPr lang="en-US" sz="1500" dirty="0"/>
          </a:p>
          <a:p>
            <a:pPr marL="182880" indent="-182880" algn="l">
              <a:lnSpc>
                <a:spcPts val="2250"/>
              </a:lnSpc>
              <a:buSzPct val="100000"/>
              <a:buChar char="•"/>
            </a:pPr>
            <a:r>
              <a:rPr lang="en-US" sz="1500" dirty="0">
                <a:solidFill>
                  <a:srgbClr val="0F1B2D"/>
                </a:solidFill>
                <a:latin typeface="IBM Plex Sans" pitchFamily="34" charset="0"/>
                <a:ea typeface="IBM Plex Sans" pitchFamily="34" charset="-122"/>
                <a:cs typeface="IBM Plex Sans" pitchFamily="34" charset="-120"/>
              </a:rPr>
              <a:t>Get verification flags and interview questions</a:t>
            </a:r>
            <a:endParaRPr lang="en-US" sz="1500" dirty="0"/>
          </a:p>
        </p:txBody>
      </p:sp>
      <p:sp>
        <p:nvSpPr>
          <p:cNvPr id="14" name="Text 10"/>
          <p:cNvSpPr/>
          <p:nvPr/>
        </p:nvSpPr>
        <p:spPr>
          <a:xfrm>
            <a:off x="812800" y="6267423"/>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BM Plex Sans" pitchFamily="34" charset="0"/>
                <a:ea typeface="IBM Plex Sans" pitchFamily="34" charset="-122"/>
                <a:cs typeface="IBM Plex Sans" pitchFamily="34" charset="-120"/>
              </a:rPr>
              <a:t>ScamShield AI · 04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4F6F8"/>
        </a:solidFill>
        <a:effectLst/>
      </p:bgPr>
    </p:bg>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1271610B-B86A-DF7C-0D29-DC78D36D9D78}"/>
              </a:ext>
            </a:extLst>
          </p:cNvPr>
          <p:cNvPicPr>
            <a:picLocks noChangeAspect="1"/>
          </p:cNvPicPr>
          <p:nvPr/>
        </p:nvPicPr>
        <p:blipFill>
          <a:blip r:embed="rId3"/>
          <a:stretch>
            <a:fillRect/>
          </a:stretch>
        </p:blipFill>
        <p:spPr>
          <a:xfrm>
            <a:off x="622571" y="314173"/>
            <a:ext cx="10763654" cy="60545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Autofit/>
          </a:bodyPr>
          <a:lstStyle/>
          <a:p>
            <a:pPr marL="0" indent="0" algn="l">
              <a:lnSpc>
                <a:spcPts val="1680"/>
              </a:lnSpc>
              <a:buNone/>
            </a:pPr>
            <a:r>
              <a:rPr lang="en-US" sz="3200" b="1" kern="0" spc="150" dirty="0">
                <a:solidFill>
                  <a:srgbClr val="0B7A6D"/>
                </a:solidFill>
                <a:latin typeface="IBM Plex Sans" pitchFamily="34" charset="0"/>
                <a:ea typeface="IBM Plex Sans" pitchFamily="34" charset="-122"/>
                <a:cs typeface="IBM Plex Sans" pitchFamily="34" charset="-120"/>
              </a:rPr>
              <a:t>STUDENT MODE</a:t>
            </a:r>
            <a:endParaRPr lang="en-US" sz="3200" dirty="0"/>
          </a:p>
        </p:txBody>
      </p:sp>
      <p:sp>
        <p:nvSpPr>
          <p:cNvPr id="4" name="Shape 2"/>
          <p:cNvSpPr/>
          <p:nvPr/>
        </p:nvSpPr>
        <p:spPr>
          <a:xfrm>
            <a:off x="815975" y="1877696"/>
            <a:ext cx="3397250" cy="1588770"/>
          </a:xfrm>
          <a:prstGeom prst="roundRect">
            <a:avLst>
              <a:gd name="adj" fmla="val 7794"/>
            </a:avLst>
          </a:prstGeom>
          <a:solidFill>
            <a:srgbClr val="FFFFFF"/>
          </a:solidFill>
          <a:ln w="6350">
            <a:solidFill>
              <a:srgbClr val="DDE3EA"/>
            </a:solidFill>
            <a:prstDash val="solid"/>
          </a:ln>
        </p:spPr>
      </p:sp>
      <p:pic>
        <p:nvPicPr>
          <p:cNvPr id="5" name="Image 0" descr="Search"/>
          <p:cNvPicPr>
            <a:picLocks noChangeAspect="1"/>
          </p:cNvPicPr>
          <p:nvPr/>
        </p:nvPicPr>
        <p:blipFill>
          <a:blip r:embed="rId3"/>
          <a:srcRect/>
          <a:stretch/>
        </p:blipFill>
        <p:spPr>
          <a:xfrm>
            <a:off x="1021080" y="2082800"/>
            <a:ext cx="304800" cy="304800"/>
          </a:xfrm>
          <a:prstGeom prst="rect">
            <a:avLst/>
          </a:prstGeom>
        </p:spPr>
      </p:pic>
      <p:sp>
        <p:nvSpPr>
          <p:cNvPr id="6" name="Text 3"/>
          <p:cNvSpPr/>
          <p:nvPr/>
        </p:nvSpPr>
        <p:spPr>
          <a:xfrm>
            <a:off x="1021080" y="2463800"/>
            <a:ext cx="3076651" cy="284480"/>
          </a:xfrm>
          <a:prstGeom prst="rect">
            <a:avLst/>
          </a:prstGeom>
          <a:noFill/>
          <a:ln/>
        </p:spPr>
        <p:txBody>
          <a:bodyPr wrap="square" lIns="0" tIns="0" rIns="0" bIns="0" rtlCol="0" anchor="t">
            <a:normAutofit/>
          </a:bodyPr>
          <a:lstStyle/>
          <a:p>
            <a:pPr marL="0" indent="0" algn="l">
              <a:lnSpc>
                <a:spcPts val="2040"/>
              </a:lnSpc>
              <a:buNone/>
            </a:pPr>
            <a:r>
              <a:rPr lang="en-US" b="1" dirty="0">
                <a:solidFill>
                  <a:srgbClr val="0F1B2D"/>
                </a:solidFill>
                <a:latin typeface="IBM Plex Sans" pitchFamily="34" charset="0"/>
                <a:ea typeface="IBM Plex Sans" pitchFamily="34" charset="-122"/>
                <a:cs typeface="IBM Plex Sans" pitchFamily="34" charset="-120"/>
              </a:rPr>
              <a:t>Screenshot scanner</a:t>
            </a:r>
            <a:endParaRPr lang="en-US" dirty="0"/>
          </a:p>
        </p:txBody>
      </p:sp>
      <p:sp>
        <p:nvSpPr>
          <p:cNvPr id="7" name="Text 4"/>
          <p:cNvSpPr/>
          <p:nvPr/>
        </p:nvSpPr>
        <p:spPr>
          <a:xfrm>
            <a:off x="1021080" y="2799082"/>
            <a:ext cx="3076651"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chemeClr val="tx2"/>
                </a:solidFill>
                <a:latin typeface="IBM Plex Sans" pitchFamily="34" charset="0"/>
                <a:ea typeface="IBM Plex Sans" pitchFamily="34" charset="-122"/>
                <a:cs typeface="IBM Plex Sans" pitchFamily="34" charset="-120"/>
              </a:rPr>
              <a:t>OCR reads WhatsApp and Telegram screenshots.</a:t>
            </a:r>
            <a:endParaRPr lang="en-US" sz="1300" b="1" dirty="0">
              <a:solidFill>
                <a:schemeClr val="tx2"/>
              </a:solidFill>
            </a:endParaRPr>
          </a:p>
        </p:txBody>
      </p:sp>
      <p:sp>
        <p:nvSpPr>
          <p:cNvPr id="8" name="Shape 5"/>
          <p:cNvSpPr/>
          <p:nvPr/>
        </p:nvSpPr>
        <p:spPr>
          <a:xfrm>
            <a:off x="4397375" y="1877696"/>
            <a:ext cx="3397250" cy="1588770"/>
          </a:xfrm>
          <a:prstGeom prst="roundRect">
            <a:avLst>
              <a:gd name="adj" fmla="val 7794"/>
            </a:avLst>
          </a:prstGeom>
          <a:solidFill>
            <a:srgbClr val="FFFFFF"/>
          </a:solidFill>
          <a:ln w="6350">
            <a:solidFill>
              <a:srgbClr val="DDE3EA"/>
            </a:solidFill>
            <a:prstDash val="solid"/>
          </a:ln>
        </p:spPr>
      </p:sp>
      <p:pic>
        <p:nvPicPr>
          <p:cNvPr id="9" name="Image 1" descr="Globe"/>
          <p:cNvPicPr>
            <a:picLocks noChangeAspect="1"/>
          </p:cNvPicPr>
          <p:nvPr/>
        </p:nvPicPr>
        <p:blipFill>
          <a:blip r:embed="rId4"/>
          <a:srcRect/>
          <a:stretch/>
        </p:blipFill>
        <p:spPr>
          <a:xfrm>
            <a:off x="4602480" y="2082800"/>
            <a:ext cx="304800" cy="304800"/>
          </a:xfrm>
          <a:prstGeom prst="rect">
            <a:avLst/>
          </a:prstGeom>
        </p:spPr>
      </p:pic>
      <p:sp>
        <p:nvSpPr>
          <p:cNvPr id="10" name="Text 6"/>
          <p:cNvSpPr/>
          <p:nvPr/>
        </p:nvSpPr>
        <p:spPr>
          <a:xfrm>
            <a:off x="4602480" y="2463800"/>
            <a:ext cx="3076651" cy="284480"/>
          </a:xfrm>
          <a:prstGeom prst="rect">
            <a:avLst/>
          </a:prstGeom>
          <a:noFill/>
          <a:ln/>
        </p:spPr>
        <p:txBody>
          <a:bodyPr wrap="square" lIns="0" tIns="0" rIns="0" bIns="0" rtlCol="0" anchor="t">
            <a:normAutofit/>
          </a:bodyPr>
          <a:lstStyle/>
          <a:p>
            <a:pPr marL="0" indent="0" algn="l">
              <a:lnSpc>
                <a:spcPts val="2040"/>
              </a:lnSpc>
              <a:buNone/>
            </a:pPr>
            <a:r>
              <a:rPr lang="en-US" b="1" dirty="0">
                <a:solidFill>
                  <a:srgbClr val="0F1B2D"/>
                </a:solidFill>
                <a:latin typeface="IBM Plex Sans" pitchFamily="34" charset="0"/>
                <a:ea typeface="IBM Plex Sans" pitchFamily="34" charset="-122"/>
                <a:cs typeface="IBM Plex Sans" pitchFamily="34" charset="-120"/>
              </a:rPr>
              <a:t>Domain check</a:t>
            </a:r>
            <a:endParaRPr lang="en-US" dirty="0"/>
          </a:p>
        </p:txBody>
      </p:sp>
      <p:sp>
        <p:nvSpPr>
          <p:cNvPr id="11" name="Text 7"/>
          <p:cNvSpPr/>
          <p:nvPr/>
        </p:nvSpPr>
        <p:spPr>
          <a:xfrm>
            <a:off x="4602480" y="2799082"/>
            <a:ext cx="3076651"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4546A"/>
                </a:solidFill>
                <a:latin typeface="IBM Plex Sans" pitchFamily="34" charset="0"/>
                <a:ea typeface="IBM Plex Sans" pitchFamily="34" charset="-122"/>
                <a:cs typeface="IBM Plex Sans" pitchFamily="34" charset="-120"/>
              </a:rPr>
              <a:t>Domain age, free email use and lookalike names.</a:t>
            </a:r>
            <a:endParaRPr lang="en-US" sz="1300" b="1" dirty="0"/>
          </a:p>
        </p:txBody>
      </p:sp>
      <p:sp>
        <p:nvSpPr>
          <p:cNvPr id="12" name="Shape 8"/>
          <p:cNvSpPr/>
          <p:nvPr/>
        </p:nvSpPr>
        <p:spPr>
          <a:xfrm>
            <a:off x="7978775" y="1877696"/>
            <a:ext cx="3397250" cy="1588770"/>
          </a:xfrm>
          <a:prstGeom prst="roundRect">
            <a:avLst>
              <a:gd name="adj" fmla="val 7794"/>
            </a:avLst>
          </a:prstGeom>
          <a:solidFill>
            <a:srgbClr val="FFFFFF"/>
          </a:solidFill>
          <a:ln w="6350">
            <a:solidFill>
              <a:srgbClr val="DDE3EA"/>
            </a:solidFill>
            <a:prstDash val="solid"/>
          </a:ln>
        </p:spPr>
      </p:sp>
      <p:pic>
        <p:nvPicPr>
          <p:cNvPr id="13" name="Image 2" descr="Warning"/>
          <p:cNvPicPr>
            <a:picLocks noChangeAspect="1"/>
          </p:cNvPicPr>
          <p:nvPr/>
        </p:nvPicPr>
        <p:blipFill>
          <a:blip r:embed="rId5"/>
          <a:srcRect/>
          <a:stretch/>
        </p:blipFill>
        <p:spPr>
          <a:xfrm>
            <a:off x="8183880" y="2082800"/>
            <a:ext cx="304800" cy="304800"/>
          </a:xfrm>
          <a:prstGeom prst="rect">
            <a:avLst/>
          </a:prstGeom>
        </p:spPr>
      </p:pic>
      <p:sp>
        <p:nvSpPr>
          <p:cNvPr id="14" name="Text 9"/>
          <p:cNvSpPr/>
          <p:nvPr/>
        </p:nvSpPr>
        <p:spPr>
          <a:xfrm>
            <a:off x="8183880" y="2463800"/>
            <a:ext cx="3076651" cy="284480"/>
          </a:xfrm>
          <a:prstGeom prst="rect">
            <a:avLst/>
          </a:prstGeom>
          <a:noFill/>
          <a:ln/>
        </p:spPr>
        <p:txBody>
          <a:bodyPr wrap="square" lIns="0" tIns="0" rIns="0" bIns="0" rtlCol="0" anchor="t">
            <a:normAutofit/>
          </a:bodyPr>
          <a:lstStyle/>
          <a:p>
            <a:pPr marL="0" indent="0" algn="l">
              <a:lnSpc>
                <a:spcPts val="2040"/>
              </a:lnSpc>
              <a:buNone/>
            </a:pPr>
            <a:r>
              <a:rPr lang="en-US" b="1" dirty="0">
                <a:solidFill>
                  <a:srgbClr val="0F1B2D"/>
                </a:solidFill>
                <a:latin typeface="IBM Plex Sans" pitchFamily="34" charset="0"/>
                <a:ea typeface="IBM Plex Sans" pitchFamily="34" charset="-122"/>
                <a:cs typeface="IBM Plex Sans" pitchFamily="34" charset="-120"/>
              </a:rPr>
              <a:t>Scam type</a:t>
            </a:r>
            <a:endParaRPr lang="en-US" dirty="0"/>
          </a:p>
        </p:txBody>
      </p:sp>
      <p:sp>
        <p:nvSpPr>
          <p:cNvPr id="15" name="Text 10"/>
          <p:cNvSpPr/>
          <p:nvPr/>
        </p:nvSpPr>
        <p:spPr>
          <a:xfrm>
            <a:off x="8183880" y="2799082"/>
            <a:ext cx="3076651"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4546A"/>
                </a:solidFill>
                <a:latin typeface="IBM Plex Sans" pitchFamily="34" charset="0"/>
                <a:ea typeface="IBM Plex Sans" pitchFamily="34" charset="-122"/>
                <a:cs typeface="IBM Plex Sans" pitchFamily="34" charset="-120"/>
              </a:rPr>
              <a:t>Fee, document harvesting, fake offer letter, task or MLM.</a:t>
            </a:r>
            <a:endParaRPr lang="en-US" sz="1300" b="1" dirty="0"/>
          </a:p>
        </p:txBody>
      </p:sp>
      <p:sp>
        <p:nvSpPr>
          <p:cNvPr id="16" name="Shape 11"/>
          <p:cNvSpPr/>
          <p:nvPr/>
        </p:nvSpPr>
        <p:spPr>
          <a:xfrm>
            <a:off x="815975" y="3650614"/>
            <a:ext cx="3397250" cy="1588770"/>
          </a:xfrm>
          <a:prstGeom prst="roundRect">
            <a:avLst>
              <a:gd name="adj" fmla="val 7794"/>
            </a:avLst>
          </a:prstGeom>
          <a:solidFill>
            <a:srgbClr val="FFFFFF"/>
          </a:solidFill>
          <a:ln w="6350">
            <a:solidFill>
              <a:srgbClr val="DDE3EA"/>
            </a:solidFill>
            <a:prstDash val="solid"/>
          </a:ln>
        </p:spPr>
      </p:sp>
      <p:pic>
        <p:nvPicPr>
          <p:cNvPr id="17" name="Image 3" descr="Lightbulb"/>
          <p:cNvPicPr>
            <a:picLocks noChangeAspect="1"/>
          </p:cNvPicPr>
          <p:nvPr/>
        </p:nvPicPr>
        <p:blipFill>
          <a:blip r:embed="rId6"/>
          <a:srcRect/>
          <a:stretch/>
        </p:blipFill>
        <p:spPr>
          <a:xfrm>
            <a:off x="1021080" y="3855721"/>
            <a:ext cx="304800" cy="304800"/>
          </a:xfrm>
          <a:prstGeom prst="rect">
            <a:avLst/>
          </a:prstGeom>
        </p:spPr>
      </p:pic>
      <p:sp>
        <p:nvSpPr>
          <p:cNvPr id="18" name="Text 12"/>
          <p:cNvSpPr/>
          <p:nvPr/>
        </p:nvSpPr>
        <p:spPr>
          <a:xfrm>
            <a:off x="1021080" y="4236721"/>
            <a:ext cx="3076651" cy="284480"/>
          </a:xfrm>
          <a:prstGeom prst="rect">
            <a:avLst/>
          </a:prstGeom>
          <a:noFill/>
          <a:ln/>
        </p:spPr>
        <p:txBody>
          <a:bodyPr wrap="square" lIns="0" tIns="0" rIns="0" bIns="0" rtlCol="0" anchor="t">
            <a:normAutofit/>
          </a:bodyPr>
          <a:lstStyle/>
          <a:p>
            <a:pPr marL="0" indent="0" algn="l">
              <a:lnSpc>
                <a:spcPts val="2040"/>
              </a:lnSpc>
              <a:buNone/>
            </a:pPr>
            <a:r>
              <a:rPr lang="en-US" b="1" dirty="0">
                <a:solidFill>
                  <a:srgbClr val="0F1B2D"/>
                </a:solidFill>
                <a:latin typeface="IBM Plex Sans" pitchFamily="34" charset="0"/>
                <a:ea typeface="IBM Plex Sans" pitchFamily="34" charset="-122"/>
                <a:cs typeface="IBM Plex Sans" pitchFamily="34" charset="-120"/>
              </a:rPr>
              <a:t>Explainable score</a:t>
            </a:r>
            <a:endParaRPr lang="en-US" dirty="0"/>
          </a:p>
        </p:txBody>
      </p:sp>
      <p:sp>
        <p:nvSpPr>
          <p:cNvPr id="19" name="Text 13"/>
          <p:cNvSpPr/>
          <p:nvPr/>
        </p:nvSpPr>
        <p:spPr>
          <a:xfrm>
            <a:off x="1021080" y="4572000"/>
            <a:ext cx="3076651"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4546A"/>
                </a:solidFill>
                <a:latin typeface="IBM Plex Sans" pitchFamily="34" charset="0"/>
                <a:ea typeface="IBM Plex Sans" pitchFamily="34" charset="-122"/>
                <a:cs typeface="IBM Plex Sans" pitchFamily="34" charset="-120"/>
              </a:rPr>
              <a:t>Highlighted words, red flags and an Uncertain band.</a:t>
            </a:r>
            <a:endParaRPr lang="en-US" sz="1300" b="1" dirty="0"/>
          </a:p>
        </p:txBody>
      </p:sp>
      <p:sp>
        <p:nvSpPr>
          <p:cNvPr id="20" name="Shape 14"/>
          <p:cNvSpPr/>
          <p:nvPr/>
        </p:nvSpPr>
        <p:spPr>
          <a:xfrm>
            <a:off x="4397375" y="3650614"/>
            <a:ext cx="3397250" cy="1588770"/>
          </a:xfrm>
          <a:prstGeom prst="roundRect">
            <a:avLst>
              <a:gd name="adj" fmla="val 7794"/>
            </a:avLst>
          </a:prstGeom>
          <a:solidFill>
            <a:srgbClr val="FFFFFF"/>
          </a:solidFill>
          <a:ln w="6350">
            <a:solidFill>
              <a:srgbClr val="DDE3EA"/>
            </a:solidFill>
            <a:prstDash val="solid"/>
          </a:ln>
        </p:spPr>
      </p:sp>
      <p:pic>
        <p:nvPicPr>
          <p:cNvPr id="21" name="Image 4" descr="PaperPlane"/>
          <p:cNvPicPr>
            <a:picLocks noChangeAspect="1"/>
          </p:cNvPicPr>
          <p:nvPr/>
        </p:nvPicPr>
        <p:blipFill>
          <a:blip r:embed="rId7"/>
          <a:srcRect/>
          <a:stretch/>
        </p:blipFill>
        <p:spPr>
          <a:xfrm>
            <a:off x="4602480" y="3855721"/>
            <a:ext cx="304800" cy="304800"/>
          </a:xfrm>
          <a:prstGeom prst="rect">
            <a:avLst/>
          </a:prstGeom>
        </p:spPr>
      </p:pic>
      <p:sp>
        <p:nvSpPr>
          <p:cNvPr id="22" name="Text 15"/>
          <p:cNvSpPr/>
          <p:nvPr/>
        </p:nvSpPr>
        <p:spPr>
          <a:xfrm>
            <a:off x="4602480" y="4236721"/>
            <a:ext cx="3076651" cy="284480"/>
          </a:xfrm>
          <a:prstGeom prst="rect">
            <a:avLst/>
          </a:prstGeom>
          <a:noFill/>
          <a:ln/>
        </p:spPr>
        <p:txBody>
          <a:bodyPr wrap="square" lIns="0" tIns="0" rIns="0" bIns="0" rtlCol="0" anchor="t">
            <a:normAutofit/>
          </a:bodyPr>
          <a:lstStyle/>
          <a:p>
            <a:pPr marL="0" indent="0" algn="l">
              <a:lnSpc>
                <a:spcPts val="2040"/>
              </a:lnSpc>
              <a:buNone/>
            </a:pPr>
            <a:r>
              <a:rPr lang="en-US" b="1" dirty="0">
                <a:solidFill>
                  <a:srgbClr val="0F1B2D"/>
                </a:solidFill>
                <a:latin typeface="IBM Plex Sans" pitchFamily="34" charset="0"/>
                <a:ea typeface="IBM Plex Sans" pitchFamily="34" charset="-122"/>
                <a:cs typeface="IBM Plex Sans" pitchFamily="34" charset="-120"/>
              </a:rPr>
              <a:t>Complaint draft</a:t>
            </a:r>
            <a:endParaRPr lang="en-US" dirty="0"/>
          </a:p>
        </p:txBody>
      </p:sp>
      <p:sp>
        <p:nvSpPr>
          <p:cNvPr id="23" name="Text 16"/>
          <p:cNvSpPr/>
          <p:nvPr/>
        </p:nvSpPr>
        <p:spPr>
          <a:xfrm>
            <a:off x="4602480" y="4572000"/>
            <a:ext cx="3076651"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4546A"/>
                </a:solidFill>
                <a:latin typeface="IBM Plex Sans" pitchFamily="34" charset="0"/>
                <a:ea typeface="IBM Plex Sans" pitchFamily="34" charset="-122"/>
                <a:cs typeface="IBM Plex Sans" pitchFamily="34" charset="-120"/>
              </a:rPr>
              <a:t>Pre-filled for cybercrime.gov.in, with the 1930 helpline.</a:t>
            </a:r>
            <a:endParaRPr lang="en-US" sz="1300" b="1" dirty="0"/>
          </a:p>
        </p:txBody>
      </p:sp>
      <p:sp>
        <p:nvSpPr>
          <p:cNvPr id="24" name="Shape 17"/>
          <p:cNvSpPr/>
          <p:nvPr/>
        </p:nvSpPr>
        <p:spPr>
          <a:xfrm>
            <a:off x="7978775" y="3650614"/>
            <a:ext cx="3397250" cy="1588770"/>
          </a:xfrm>
          <a:prstGeom prst="roundRect">
            <a:avLst>
              <a:gd name="adj" fmla="val 7794"/>
            </a:avLst>
          </a:prstGeom>
          <a:solidFill>
            <a:srgbClr val="FFFFFF"/>
          </a:solidFill>
          <a:ln w="6350">
            <a:solidFill>
              <a:srgbClr val="DDE3EA"/>
            </a:solidFill>
            <a:prstDash val="solid"/>
          </a:ln>
        </p:spPr>
      </p:sp>
      <p:pic>
        <p:nvPicPr>
          <p:cNvPr id="25" name="Image 5" descr="Chat"/>
          <p:cNvPicPr>
            <a:picLocks noChangeAspect="1"/>
          </p:cNvPicPr>
          <p:nvPr/>
        </p:nvPicPr>
        <p:blipFill>
          <a:blip r:embed="rId8"/>
          <a:srcRect/>
          <a:stretch/>
        </p:blipFill>
        <p:spPr>
          <a:xfrm>
            <a:off x="8183880" y="3855721"/>
            <a:ext cx="304800" cy="304800"/>
          </a:xfrm>
          <a:prstGeom prst="rect">
            <a:avLst/>
          </a:prstGeom>
        </p:spPr>
      </p:pic>
      <p:sp>
        <p:nvSpPr>
          <p:cNvPr id="26" name="Text 18"/>
          <p:cNvSpPr/>
          <p:nvPr/>
        </p:nvSpPr>
        <p:spPr>
          <a:xfrm>
            <a:off x="8183880" y="4236721"/>
            <a:ext cx="3076651" cy="284480"/>
          </a:xfrm>
          <a:prstGeom prst="rect">
            <a:avLst/>
          </a:prstGeom>
          <a:noFill/>
          <a:ln/>
        </p:spPr>
        <p:txBody>
          <a:bodyPr wrap="square" lIns="0" tIns="0" rIns="0" bIns="0" rtlCol="0" anchor="t">
            <a:normAutofit/>
          </a:bodyPr>
          <a:lstStyle/>
          <a:p>
            <a:pPr marL="0" indent="0" algn="l">
              <a:lnSpc>
                <a:spcPts val="2040"/>
              </a:lnSpc>
              <a:buNone/>
            </a:pPr>
            <a:r>
              <a:rPr lang="en-US" b="1" dirty="0">
                <a:solidFill>
                  <a:srgbClr val="0F1B2D"/>
                </a:solidFill>
                <a:latin typeface="IBM Plex Sans" pitchFamily="34" charset="0"/>
                <a:ea typeface="IBM Plex Sans" pitchFamily="34" charset="-122"/>
                <a:cs typeface="IBM Plex Sans" pitchFamily="34" charset="-120"/>
              </a:rPr>
              <a:t>Tamil and Tanglish</a:t>
            </a:r>
            <a:endParaRPr lang="en-US" dirty="0"/>
          </a:p>
        </p:txBody>
      </p:sp>
      <p:sp>
        <p:nvSpPr>
          <p:cNvPr id="27" name="Text 19"/>
          <p:cNvSpPr/>
          <p:nvPr/>
        </p:nvSpPr>
        <p:spPr>
          <a:xfrm>
            <a:off x="8183880" y="4572000"/>
            <a:ext cx="3076651"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4546A"/>
                </a:solidFill>
                <a:latin typeface="IBM Plex Sans" pitchFamily="34" charset="0"/>
                <a:ea typeface="IBM Plex Sans" pitchFamily="34" charset="-122"/>
                <a:cs typeface="IBM Plex Sans" pitchFamily="34" charset="-120"/>
              </a:rPr>
              <a:t>Rules for scam messages that mix languages.</a:t>
            </a:r>
            <a:endParaRPr lang="en-US" sz="1300" b="1" dirty="0"/>
          </a:p>
        </p:txBody>
      </p:sp>
      <p:sp>
        <p:nvSpPr>
          <p:cNvPr id="28" name="Text 20"/>
          <p:cNvSpPr/>
          <p:nvPr/>
        </p:nvSpPr>
        <p:spPr>
          <a:xfrm>
            <a:off x="822528"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BM Plex Sans" pitchFamily="34" charset="0"/>
                <a:ea typeface="IBM Plex Sans" pitchFamily="34" charset="-122"/>
                <a:cs typeface="IBM Plex Sans" pitchFamily="34" charset="-120"/>
              </a:rPr>
              <a:t>ScamShield AI · 06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Autofit/>
          </a:bodyPr>
          <a:lstStyle/>
          <a:p>
            <a:pPr marL="0" indent="0" algn="l">
              <a:lnSpc>
                <a:spcPts val="1680"/>
              </a:lnSpc>
              <a:buNone/>
            </a:pPr>
            <a:r>
              <a:rPr lang="en-US" sz="3200" b="1" kern="0" spc="150" dirty="0">
                <a:solidFill>
                  <a:srgbClr val="0B7A6D"/>
                </a:solidFill>
                <a:latin typeface="IBM Plex Sans" pitchFamily="34" charset="0"/>
                <a:ea typeface="IBM Plex Sans" pitchFamily="34" charset="-122"/>
                <a:cs typeface="IBM Plex Sans" pitchFamily="34" charset="-120"/>
              </a:rPr>
              <a:t>RECRUITER MODE</a:t>
            </a:r>
            <a:endParaRPr lang="en-US" sz="3200" dirty="0"/>
          </a:p>
        </p:txBody>
      </p:sp>
      <p:sp>
        <p:nvSpPr>
          <p:cNvPr id="3" name="Text 1"/>
          <p:cNvSpPr>
            <a:spLocks noGrp="1"/>
          </p:cNvSpPr>
          <p:nvPr>
            <p:ph type="title"/>
          </p:nvPr>
        </p:nvSpPr>
        <p:spPr>
          <a:xfrm>
            <a:off x="812800" y="1102361"/>
            <a:ext cx="10883392" cy="492760"/>
          </a:xfrm>
          <a:prstGeom prst="rect">
            <a:avLst/>
          </a:prstGeom>
          <a:noFill/>
          <a:ln/>
        </p:spPr>
        <p:txBody>
          <a:bodyPr wrap="square" lIns="0" tIns="0" rIns="0" bIns="0" rtlCol="0" anchor="t">
            <a:normAutofit/>
          </a:bodyPr>
          <a:lstStyle/>
          <a:p>
            <a:pPr marL="0" indent="0" algn="l">
              <a:lnSpc>
                <a:spcPts val="3680"/>
              </a:lnSpc>
              <a:buNone/>
            </a:pPr>
            <a:r>
              <a:rPr lang="en-US" sz="2400" b="1" i="0" dirty="0">
                <a:solidFill>
                  <a:srgbClr val="0F1B2D"/>
                </a:solidFill>
                <a:latin typeface="Rubik" pitchFamily="34" charset="0"/>
                <a:ea typeface="Rubik" pitchFamily="34" charset="-122"/>
                <a:cs typeface="Rubik" pitchFamily="34" charset="-120"/>
              </a:rPr>
              <a:t>Verification flags for resumes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59281"/>
          <a:ext cx="10556240" cy="2468880"/>
        </p:xfrm>
        <a:graphic>
          <a:graphicData uri="http://schemas.openxmlformats.org/drawingml/2006/table">
            <a:tbl>
              <a:tblPr/>
              <a:tblGrid>
                <a:gridCol w="3377997">
                  <a:extLst>
                    <a:ext uri="{9D8B030D-6E8A-4147-A177-3AD203B41FA5}">
                      <a16:colId xmlns:a16="http://schemas.microsoft.com/office/drawing/2014/main" val="20000"/>
                    </a:ext>
                  </a:extLst>
                </a:gridCol>
                <a:gridCol w="7178243">
                  <a:extLst>
                    <a:ext uri="{9D8B030D-6E8A-4147-A177-3AD203B41FA5}">
                      <a16:colId xmlns:a16="http://schemas.microsoft.com/office/drawing/2014/main" val="20001"/>
                    </a:ext>
                  </a:extLst>
                </a:gridCol>
              </a:tblGrid>
              <a:tr h="436880">
                <a:tc>
                  <a:txBody>
                    <a:bodyPr/>
                    <a:lstStyle/>
                    <a:p>
                      <a:pPr marL="0" indent="0">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Check</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marL="0" indent="0">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What it finds</a:t>
                      </a:r>
                      <a:endParaRPr lang="en-US" sz="1600" dirty="0">
                        <a:latin typeface="IBM Plex Sans" charset="0"/>
                        <a:ea typeface="IBM Plex Sans" charset="0"/>
                        <a:cs typeface="IBM Plex Sans" charset="0"/>
                      </a:endParaRPr>
                    </a:p>
                  </a:txBody>
                  <a:tcPr marL="71120" marR="71120" marT="71120" marB="71120">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extLst>
                  <a:ext uri="{0D108BD9-81ED-4DB2-BD59-A6C34878D82A}">
                    <a16:rowId xmlns:a16="http://schemas.microsoft.com/office/drawing/2014/main" val="10000"/>
                  </a:ext>
                </a:extLst>
              </a:tr>
              <a:tr h="721360">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Timeline consistency</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Overlapping jobs, impossible dates, experience that does not fit the graduation year</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1"/>
                  </a:ext>
                </a:extLst>
              </a:tr>
              <a:tr h="436880">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Hidden text</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White or tiny keyword stuffing added to fool screening software</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2"/>
                  </a:ext>
                </a:extLst>
              </a:tr>
              <a:tr h="436880">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Copied content</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Similarity to a public resume dataset, using sentence embeddings</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3"/>
                  </a:ext>
                </a:extLst>
              </a:tr>
              <a:tr h="436880">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Interview questions</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One question for each doubtful claim, so recruiters can act</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607561"/>
            <a:ext cx="10566400" cy="673100"/>
          </a:xfrm>
          <a:prstGeom prst="roundRect">
            <a:avLst>
              <a:gd name="adj" fmla="val 18868"/>
            </a:avLst>
          </a:prstGeom>
          <a:solidFill>
            <a:srgbClr val="0F1B2D"/>
          </a:solidFill>
          <a:ln/>
        </p:spPr>
        <p:txBody>
          <a:bodyPr wrap="square" lIns="242203" tIns="166003" rIns="0" bIns="140603" rtlCol="0" anchor="t">
            <a:normAutofit/>
          </a:bodyPr>
          <a:lstStyle/>
          <a:p>
            <a:pPr>
              <a:lnSpc>
                <a:spcPct val="100000"/>
              </a:lnSpc>
            </a:pPr>
            <a:r>
              <a:rPr lang="en-US" sz="1500" dirty="0">
                <a:solidFill>
                  <a:schemeClr val="bg1"/>
                </a:solidFill>
                <a:latin typeface="IBM Plex Sans" pitchFamily="34" charset="0"/>
                <a:ea typeface="IBM Plex Sans" pitchFamily="34" charset="-122"/>
                <a:cs typeface="IBM Plex Sans" pitchFamily="34" charset="-120"/>
              </a:rPr>
              <a:t>Results are verification flags, never a verdict. </a:t>
            </a:r>
            <a:r>
              <a:rPr lang="en-IN" sz="1600" dirty="0">
                <a:solidFill>
                  <a:schemeClr val="bg1"/>
                </a:solidFill>
              </a:rPr>
              <a:t>Shows “flags to verify”, never “this person is fake”</a:t>
            </a:r>
          </a:p>
          <a:p>
            <a:pPr marL="0" indent="0" algn="l">
              <a:lnSpc>
                <a:spcPts val="2100"/>
              </a:lnSpc>
              <a:buNone/>
            </a:pPr>
            <a:endParaRPr lang="en-US" sz="1500" dirty="0">
              <a:solidFill>
                <a:schemeClr val="bg1"/>
              </a:solidFill>
            </a:endParaRPr>
          </a:p>
        </p:txBody>
      </p:sp>
      <p:sp>
        <p:nvSpPr>
          <p:cNvPr id="6" name="Text 3"/>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BM Plex Sans" pitchFamily="34" charset="0"/>
                <a:ea typeface="IBM Plex Sans" pitchFamily="34" charset="-122"/>
                <a:cs typeface="IBM Plex Sans" pitchFamily="34" charset="-120"/>
              </a:rPr>
              <a:t>ScamShield AI · 07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AFEE3-5CDA-9DCC-28FF-8D11F91D1BFE}"/>
            </a:ext>
          </a:extLst>
        </p:cNvPr>
        <p:cNvGrpSpPr/>
        <p:nvPr/>
      </p:nvGrpSpPr>
      <p:grpSpPr>
        <a:xfrm>
          <a:off x="0" y="0"/>
          <a:ext cx="0" cy="0"/>
          <a:chOff x="0" y="0"/>
          <a:chExt cx="0" cy="0"/>
        </a:xfrm>
      </p:grpSpPr>
      <p:sp>
        <p:nvSpPr>
          <p:cNvPr id="18" name="Text 0">
            <a:extLst>
              <a:ext uri="{FF2B5EF4-FFF2-40B4-BE49-F238E27FC236}">
                <a16:creationId xmlns:a16="http://schemas.microsoft.com/office/drawing/2014/main" id="{90E9349F-EF5A-304D-5B12-C431EE2DC507}"/>
              </a:ext>
            </a:extLst>
          </p:cNvPr>
          <p:cNvSpPr/>
          <p:nvPr/>
        </p:nvSpPr>
        <p:spPr>
          <a:xfrm>
            <a:off x="525295" y="311286"/>
            <a:ext cx="11760178" cy="772658"/>
          </a:xfrm>
          <a:prstGeom prst="rect">
            <a:avLst/>
          </a:prstGeom>
          <a:noFill/>
          <a:ln/>
        </p:spPr>
        <p:txBody>
          <a:bodyPr wrap="square" lIns="0" tIns="0" rIns="0" bIns="0" rtlCol="0" anchor="t">
            <a:noAutofit/>
          </a:bodyPr>
          <a:lstStyle/>
          <a:p>
            <a:r>
              <a:rPr lang="en-IN" sz="3200" b="1" dirty="0">
                <a:solidFill>
                  <a:schemeClr val="accent1">
                    <a:lumMod val="50000"/>
                  </a:schemeClr>
                </a:solidFill>
                <a:cs typeface="Times New Roman" panose="02020603050405020304" pitchFamily="18" charset="0"/>
              </a:rPr>
              <a:t>Modules Used:</a:t>
            </a:r>
            <a:endParaRPr lang="en-US" sz="3200" b="1" dirty="0">
              <a:ln w="0"/>
              <a:solidFill>
                <a:schemeClr val="accent1">
                  <a:lumMod val="50000"/>
                </a:schemeClr>
              </a:solidFill>
              <a:effectLst>
                <a:outerShdw blurRad="38100" dist="19050" dir="2700000" algn="tl" rotWithShape="0">
                  <a:schemeClr val="dk1">
                    <a:alpha val="40000"/>
                  </a:schemeClr>
                </a:outerShdw>
              </a:effectLst>
              <a:cs typeface="Times New Roman" panose="02020603050405020304" pitchFamily="18" charset="0"/>
            </a:endParaRPr>
          </a:p>
        </p:txBody>
      </p:sp>
      <p:sp>
        <p:nvSpPr>
          <p:cNvPr id="3" name="TextBox 2">
            <a:extLst>
              <a:ext uri="{FF2B5EF4-FFF2-40B4-BE49-F238E27FC236}">
                <a16:creationId xmlns:a16="http://schemas.microsoft.com/office/drawing/2014/main" id="{BA348C12-4628-A786-BEDD-4636AA1E7AB1}"/>
              </a:ext>
            </a:extLst>
          </p:cNvPr>
          <p:cNvSpPr txBox="1"/>
          <p:nvPr/>
        </p:nvSpPr>
        <p:spPr>
          <a:xfrm>
            <a:off x="933855" y="943584"/>
            <a:ext cx="8910536" cy="5011949"/>
          </a:xfrm>
          <a:prstGeom prst="rect">
            <a:avLst/>
          </a:prstGeom>
          <a:noFill/>
        </p:spPr>
        <p:txBody>
          <a:bodyPr wrap="square">
            <a:spAutoFit/>
          </a:bodyPr>
          <a:lstStyle/>
          <a:p>
            <a:pPr marL="342900" lvl="0" indent="-342900" rtl="0">
              <a:lnSpc>
                <a:spcPct val="150000"/>
              </a:lnSpc>
              <a:buFont typeface="+mj-lt"/>
              <a:buAutoNum type="arabicPeriod"/>
            </a:pPr>
            <a:r>
              <a:rPr lang="en-IN" sz="2400" b="1" dirty="0">
                <a:latin typeface="Times New Roman" panose="02020603050405020304" pitchFamily="18" charset="0"/>
                <a:cs typeface="Times New Roman" panose="02020603050405020304" pitchFamily="18" charset="0"/>
              </a:rPr>
              <a:t>Input:</a:t>
            </a:r>
            <a:r>
              <a:rPr lang="en-IN" sz="2400" dirty="0">
                <a:latin typeface="Times New Roman" panose="02020603050405020304" pitchFamily="18" charset="0"/>
                <a:cs typeface="Times New Roman" panose="02020603050405020304" pitchFamily="18" charset="0"/>
              </a:rPr>
              <a:t> text, screenshot or PDF</a:t>
            </a:r>
          </a:p>
          <a:p>
            <a:pPr marL="342900" lvl="0" indent="-342900" rtl="0">
              <a:lnSpc>
                <a:spcPct val="150000"/>
              </a:lnSpc>
              <a:buFont typeface="+mj-lt"/>
              <a:buAutoNum type="arabicPeriod"/>
            </a:pPr>
            <a:r>
              <a:rPr lang="en-IN" sz="2400" b="1" dirty="0">
                <a:latin typeface="Times New Roman" panose="02020603050405020304" pitchFamily="18" charset="0"/>
                <a:cs typeface="Times New Roman" panose="02020603050405020304" pitchFamily="18" charset="0"/>
              </a:rPr>
              <a:t>Text Extraction:</a:t>
            </a:r>
            <a:r>
              <a:rPr lang="en-IN" sz="2400" dirty="0">
                <a:latin typeface="Times New Roman" panose="02020603050405020304" pitchFamily="18" charset="0"/>
                <a:cs typeface="Times New Roman" panose="02020603050405020304" pitchFamily="18" charset="0"/>
              </a:rPr>
              <a:t> OCR and PDF reader</a:t>
            </a:r>
          </a:p>
          <a:p>
            <a:pPr marL="342900" lvl="0" indent="-342900" rtl="0">
              <a:lnSpc>
                <a:spcPct val="150000"/>
              </a:lnSpc>
              <a:buFont typeface="+mj-lt"/>
              <a:buAutoNum type="arabicPeriod"/>
            </a:pPr>
            <a:r>
              <a:rPr lang="en-IN" sz="2400" b="1" dirty="0">
                <a:latin typeface="Times New Roman" panose="02020603050405020304" pitchFamily="18" charset="0"/>
                <a:cs typeface="Times New Roman" panose="02020603050405020304" pitchFamily="18" charset="0"/>
              </a:rPr>
              <a:t>ML Model:</a:t>
            </a:r>
            <a:r>
              <a:rPr lang="en-IN" sz="2400" dirty="0">
                <a:latin typeface="Times New Roman" panose="02020603050405020304" pitchFamily="18" charset="0"/>
                <a:cs typeface="Times New Roman" panose="02020603050405020304" pitchFamily="18" charset="0"/>
              </a:rPr>
              <a:t> TF-IDF + Logistic Regression</a:t>
            </a:r>
          </a:p>
          <a:p>
            <a:pPr marL="342900" lvl="0" indent="-342900" rtl="0">
              <a:lnSpc>
                <a:spcPct val="150000"/>
              </a:lnSpc>
              <a:buFont typeface="+mj-lt"/>
              <a:buAutoNum type="arabicPeriod"/>
            </a:pPr>
            <a:r>
              <a:rPr lang="en-IN" sz="2400" b="1" dirty="0">
                <a:latin typeface="Times New Roman" panose="02020603050405020304" pitchFamily="18" charset="0"/>
                <a:cs typeface="Times New Roman" panose="02020603050405020304" pitchFamily="18" charset="0"/>
              </a:rPr>
              <a:t>Rule Engine:</a:t>
            </a:r>
            <a:r>
              <a:rPr lang="en-IN" sz="2400" dirty="0">
                <a:latin typeface="Times New Roman" panose="02020603050405020304" pitchFamily="18" charset="0"/>
                <a:cs typeface="Times New Roman" panose="02020603050405020304" pitchFamily="18" charset="0"/>
              </a:rPr>
              <a:t> checks red flags (fees, Telegram, urgency)</a:t>
            </a:r>
          </a:p>
          <a:p>
            <a:pPr marL="342900" lvl="0" indent="-342900" rtl="0">
              <a:lnSpc>
                <a:spcPct val="150000"/>
              </a:lnSpc>
              <a:buFont typeface="+mj-lt"/>
              <a:buAutoNum type="arabicPeriod"/>
            </a:pPr>
            <a:r>
              <a:rPr lang="en-IN" sz="2400" b="1" dirty="0">
                <a:latin typeface="Times New Roman" panose="02020603050405020304" pitchFamily="18" charset="0"/>
                <a:cs typeface="Times New Roman" panose="02020603050405020304" pitchFamily="18" charset="0"/>
              </a:rPr>
              <a:t>Risk Scoring:</a:t>
            </a:r>
            <a:r>
              <a:rPr lang="en-IN" sz="2400" dirty="0">
                <a:latin typeface="Times New Roman" panose="02020603050405020304" pitchFamily="18" charset="0"/>
                <a:cs typeface="Times New Roman" panose="02020603050405020304" pitchFamily="18" charset="0"/>
              </a:rPr>
              <a:t> Low, Uncertain or High</a:t>
            </a:r>
          </a:p>
          <a:p>
            <a:pPr marL="342900" lvl="0" indent="-342900" rtl="0">
              <a:lnSpc>
                <a:spcPct val="150000"/>
              </a:lnSpc>
              <a:buFont typeface="+mj-lt"/>
              <a:buAutoNum type="arabicPeriod"/>
            </a:pPr>
            <a:r>
              <a:rPr lang="en-IN" sz="2400" b="1" dirty="0">
                <a:latin typeface="Times New Roman" panose="02020603050405020304" pitchFamily="18" charset="0"/>
                <a:cs typeface="Times New Roman" panose="02020603050405020304" pitchFamily="18" charset="0"/>
              </a:rPr>
              <a:t>Explainability:</a:t>
            </a:r>
            <a:r>
              <a:rPr lang="en-IN" sz="2400" dirty="0">
                <a:latin typeface="Times New Roman" panose="02020603050405020304" pitchFamily="18" charset="0"/>
                <a:cs typeface="Times New Roman" panose="02020603050405020304" pitchFamily="18" charset="0"/>
              </a:rPr>
              <a:t> highlights risky words</a:t>
            </a:r>
          </a:p>
          <a:p>
            <a:pPr marL="342900" lvl="0" indent="-342900" rtl="0">
              <a:lnSpc>
                <a:spcPct val="150000"/>
              </a:lnSpc>
              <a:buFont typeface="+mj-lt"/>
              <a:buAutoNum type="arabicPeriod"/>
            </a:pPr>
            <a:r>
              <a:rPr lang="en-IN" sz="2400" b="1" dirty="0">
                <a:latin typeface="Times New Roman" panose="02020603050405020304" pitchFamily="18" charset="0"/>
                <a:cs typeface="Times New Roman" panose="02020603050405020304" pitchFamily="18" charset="0"/>
              </a:rPr>
              <a:t>Resume Check:</a:t>
            </a:r>
            <a:r>
              <a:rPr lang="en-IN" sz="2400" dirty="0">
                <a:latin typeface="Times New Roman" panose="02020603050405020304" pitchFamily="18" charset="0"/>
                <a:cs typeface="Times New Roman" panose="02020603050405020304" pitchFamily="18" charset="0"/>
              </a:rPr>
              <a:t> finds fake or unusual resume signs</a:t>
            </a:r>
          </a:p>
          <a:p>
            <a:pPr marL="342900" lvl="0" indent="-342900" rtl="0">
              <a:lnSpc>
                <a:spcPct val="150000"/>
              </a:lnSpc>
              <a:buFont typeface="+mj-lt"/>
              <a:buAutoNum type="arabicPeriod"/>
            </a:pPr>
            <a:r>
              <a:rPr lang="en-IN" sz="2400" b="1" dirty="0">
                <a:latin typeface="Times New Roman" panose="02020603050405020304" pitchFamily="18" charset="0"/>
                <a:cs typeface="Times New Roman" panose="02020603050405020304" pitchFamily="18" charset="0"/>
              </a:rPr>
              <a:t>Response Helper:</a:t>
            </a:r>
            <a:r>
              <a:rPr lang="en-IN" sz="2400" dirty="0">
                <a:latin typeface="Times New Roman" panose="02020603050405020304" pitchFamily="18" charset="0"/>
                <a:cs typeface="Times New Roman" panose="02020603050405020304" pitchFamily="18" charset="0"/>
              </a:rPr>
              <a:t> safe reply and complaint draft</a:t>
            </a:r>
          </a:p>
          <a:p>
            <a:pPr marL="342900" lvl="0" indent="-342900" rtl="0">
              <a:lnSpc>
                <a:spcPct val="150000"/>
              </a:lnSpc>
              <a:buFont typeface="+mj-lt"/>
              <a:buAutoNum type="arabicPeriod"/>
            </a:pPr>
            <a:r>
              <a:rPr lang="en-IN" sz="2400" b="1" dirty="0">
                <a:latin typeface="Times New Roman" panose="02020603050405020304" pitchFamily="18" charset="0"/>
                <a:cs typeface="Times New Roman" panose="02020603050405020304" pitchFamily="18" charset="0"/>
              </a:rPr>
              <a:t>Reviews and Dashboard:</a:t>
            </a:r>
            <a:r>
              <a:rPr lang="en-IN" sz="2400" dirty="0">
                <a:latin typeface="Times New Roman" panose="02020603050405020304" pitchFamily="18" charset="0"/>
                <a:cs typeface="Times New Roman" panose="02020603050405020304" pitchFamily="18" charset="0"/>
              </a:rPr>
              <a:t> feedback and live charts</a:t>
            </a:r>
          </a:p>
        </p:txBody>
      </p:sp>
    </p:spTree>
    <p:extLst>
      <p:ext uri="{BB962C8B-B14F-4D97-AF65-F5344CB8AC3E}">
        <p14:creationId xmlns:p14="http://schemas.microsoft.com/office/powerpoint/2010/main" val="2264573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77112-39BE-FD0B-D260-2E951D3972FF}"/>
            </a:ext>
          </a:extLst>
        </p:cNvPr>
        <p:cNvGrpSpPr/>
        <p:nvPr/>
      </p:nvGrpSpPr>
      <p:grpSpPr>
        <a:xfrm>
          <a:off x="0" y="0"/>
          <a:ext cx="0" cy="0"/>
          <a:chOff x="0" y="0"/>
          <a:chExt cx="0" cy="0"/>
        </a:xfrm>
      </p:grpSpPr>
      <p:sp>
        <p:nvSpPr>
          <p:cNvPr id="18" name="Text 0">
            <a:extLst>
              <a:ext uri="{FF2B5EF4-FFF2-40B4-BE49-F238E27FC236}">
                <a16:creationId xmlns:a16="http://schemas.microsoft.com/office/drawing/2014/main" id="{54F5C86C-CB96-2BFF-3E6E-F7353856C1B1}"/>
              </a:ext>
            </a:extLst>
          </p:cNvPr>
          <p:cNvSpPr/>
          <p:nvPr/>
        </p:nvSpPr>
        <p:spPr>
          <a:xfrm>
            <a:off x="525295" y="311286"/>
            <a:ext cx="11760178" cy="772658"/>
          </a:xfrm>
          <a:prstGeom prst="rect">
            <a:avLst/>
          </a:prstGeom>
          <a:noFill/>
          <a:ln/>
        </p:spPr>
        <p:txBody>
          <a:bodyPr wrap="square" lIns="0" tIns="0" rIns="0" bIns="0" rtlCol="0" anchor="t">
            <a:noAutofit/>
          </a:bodyPr>
          <a:lstStyle/>
          <a:p>
            <a:r>
              <a:rPr lang="en-IN" sz="3200" b="1" dirty="0">
                <a:ln w="0"/>
                <a:solidFill>
                  <a:schemeClr val="accent1">
                    <a:lumMod val="50000"/>
                  </a:schemeClr>
                </a:solidFill>
                <a:effectLst>
                  <a:outerShdw blurRad="38100" dist="19050" dir="2700000" algn="tl" rotWithShape="0">
                    <a:schemeClr val="dk1">
                      <a:alpha val="40000"/>
                    </a:schemeClr>
                  </a:outerShdw>
                </a:effectLst>
              </a:rPr>
              <a:t>OUTPUT SCREENSHOT:</a:t>
            </a:r>
            <a:endParaRPr lang="en-US" sz="3200" b="1" dirty="0">
              <a:ln w="0"/>
              <a:solidFill>
                <a:schemeClr val="accent1">
                  <a:lumMod val="50000"/>
                </a:schemeClr>
              </a:solidFill>
              <a:effectLst>
                <a:outerShdw blurRad="38100" dist="19050" dir="2700000" algn="tl" rotWithShape="0">
                  <a:schemeClr val="dk1">
                    <a:alpha val="40000"/>
                  </a:schemeClr>
                </a:outerShdw>
              </a:effectLst>
            </a:endParaRPr>
          </a:p>
        </p:txBody>
      </p:sp>
      <p:pic>
        <p:nvPicPr>
          <p:cNvPr id="5" name="Picture 4">
            <a:extLst>
              <a:ext uri="{FF2B5EF4-FFF2-40B4-BE49-F238E27FC236}">
                <a16:creationId xmlns:a16="http://schemas.microsoft.com/office/drawing/2014/main" id="{16AC13E1-393D-9F88-9831-F5CA376A4ADF}"/>
              </a:ext>
            </a:extLst>
          </p:cNvPr>
          <p:cNvPicPr>
            <a:picLocks noChangeAspect="1"/>
          </p:cNvPicPr>
          <p:nvPr/>
        </p:nvPicPr>
        <p:blipFill>
          <a:blip r:embed="rId3"/>
          <a:stretch>
            <a:fillRect/>
          </a:stretch>
        </p:blipFill>
        <p:spPr>
          <a:xfrm>
            <a:off x="170013" y="1206230"/>
            <a:ext cx="6580983" cy="5340484"/>
          </a:xfrm>
          <a:prstGeom prst="rect">
            <a:avLst/>
          </a:prstGeom>
        </p:spPr>
      </p:pic>
      <p:pic>
        <p:nvPicPr>
          <p:cNvPr id="7" name="Picture 6">
            <a:extLst>
              <a:ext uri="{FF2B5EF4-FFF2-40B4-BE49-F238E27FC236}">
                <a16:creationId xmlns:a16="http://schemas.microsoft.com/office/drawing/2014/main" id="{5556F0D0-EE1C-03E1-715D-022834006381}"/>
              </a:ext>
            </a:extLst>
          </p:cNvPr>
          <p:cNvPicPr>
            <a:picLocks noChangeAspect="1"/>
          </p:cNvPicPr>
          <p:nvPr/>
        </p:nvPicPr>
        <p:blipFill>
          <a:blip r:embed="rId4"/>
          <a:stretch>
            <a:fillRect/>
          </a:stretch>
        </p:blipFill>
        <p:spPr>
          <a:xfrm>
            <a:off x="6869480" y="1206230"/>
            <a:ext cx="5152507" cy="5214025"/>
          </a:xfrm>
          <a:prstGeom prst="rect">
            <a:avLst/>
          </a:prstGeom>
        </p:spPr>
      </p:pic>
    </p:spTree>
    <p:extLst>
      <p:ext uri="{BB962C8B-B14F-4D97-AF65-F5344CB8AC3E}">
        <p14:creationId xmlns:p14="http://schemas.microsoft.com/office/powerpoint/2010/main" val="915979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9EEF8-36DC-5718-11C9-67E979489497}"/>
            </a:ext>
          </a:extLst>
        </p:cNvPr>
        <p:cNvGrpSpPr/>
        <p:nvPr/>
      </p:nvGrpSpPr>
      <p:grpSpPr>
        <a:xfrm>
          <a:off x="0" y="0"/>
          <a:ext cx="0" cy="0"/>
          <a:chOff x="0" y="0"/>
          <a:chExt cx="0" cy="0"/>
        </a:xfrm>
      </p:grpSpPr>
      <p:sp>
        <p:nvSpPr>
          <p:cNvPr id="18" name="Text 0">
            <a:extLst>
              <a:ext uri="{FF2B5EF4-FFF2-40B4-BE49-F238E27FC236}">
                <a16:creationId xmlns:a16="http://schemas.microsoft.com/office/drawing/2014/main" id="{44220C40-291B-7464-E6A8-C93F45A0DBA1}"/>
              </a:ext>
            </a:extLst>
          </p:cNvPr>
          <p:cNvSpPr/>
          <p:nvPr/>
        </p:nvSpPr>
        <p:spPr>
          <a:xfrm>
            <a:off x="525295" y="311286"/>
            <a:ext cx="11760178" cy="772658"/>
          </a:xfrm>
          <a:prstGeom prst="rect">
            <a:avLst/>
          </a:prstGeom>
          <a:noFill/>
          <a:ln/>
        </p:spPr>
        <p:txBody>
          <a:bodyPr wrap="square" lIns="0" tIns="0" rIns="0" bIns="0" rtlCol="0" anchor="t">
            <a:noAutofit/>
          </a:bodyPr>
          <a:lstStyle/>
          <a:p>
            <a:r>
              <a:rPr lang="en-IN" sz="3200" b="1" dirty="0">
                <a:ln w="0"/>
                <a:solidFill>
                  <a:schemeClr val="accent1">
                    <a:lumMod val="50000"/>
                  </a:schemeClr>
                </a:solidFill>
                <a:effectLst>
                  <a:outerShdw blurRad="38100" dist="19050" dir="2700000" algn="tl" rotWithShape="0">
                    <a:schemeClr val="dk1">
                      <a:alpha val="40000"/>
                    </a:schemeClr>
                  </a:outerShdw>
                </a:effectLst>
              </a:rPr>
              <a:t>OUTPUT SCREENSHOT:</a:t>
            </a:r>
            <a:endParaRPr lang="en-US" sz="3200" b="1" dirty="0">
              <a:ln w="0"/>
              <a:solidFill>
                <a:schemeClr val="accent1">
                  <a:lumMod val="50000"/>
                </a:schemeClr>
              </a:solidFill>
              <a:effectLst>
                <a:outerShdw blurRad="38100" dist="19050" dir="2700000" algn="tl" rotWithShape="0">
                  <a:schemeClr val="dk1">
                    <a:alpha val="40000"/>
                  </a:schemeClr>
                </a:outerShdw>
              </a:effectLst>
            </a:endParaRPr>
          </a:p>
        </p:txBody>
      </p:sp>
      <p:pic>
        <p:nvPicPr>
          <p:cNvPr id="3" name="Picture 2">
            <a:extLst>
              <a:ext uri="{FF2B5EF4-FFF2-40B4-BE49-F238E27FC236}">
                <a16:creationId xmlns:a16="http://schemas.microsoft.com/office/drawing/2014/main" id="{F24FB8C7-C92C-F71D-7F3C-5DE1FF04120A}"/>
              </a:ext>
            </a:extLst>
          </p:cNvPr>
          <p:cNvPicPr>
            <a:picLocks noChangeAspect="1"/>
          </p:cNvPicPr>
          <p:nvPr/>
        </p:nvPicPr>
        <p:blipFill>
          <a:blip r:embed="rId3"/>
          <a:stretch>
            <a:fillRect/>
          </a:stretch>
        </p:blipFill>
        <p:spPr>
          <a:xfrm>
            <a:off x="389106" y="1083944"/>
            <a:ext cx="5476673" cy="5038927"/>
          </a:xfrm>
          <a:prstGeom prst="rect">
            <a:avLst/>
          </a:prstGeom>
        </p:spPr>
      </p:pic>
      <p:pic>
        <p:nvPicPr>
          <p:cNvPr id="5" name="Picture 4">
            <a:extLst>
              <a:ext uri="{FF2B5EF4-FFF2-40B4-BE49-F238E27FC236}">
                <a16:creationId xmlns:a16="http://schemas.microsoft.com/office/drawing/2014/main" id="{621585A4-B0EF-7915-DA23-69D96A6EA077}"/>
              </a:ext>
            </a:extLst>
          </p:cNvPr>
          <p:cNvPicPr>
            <a:picLocks noChangeAspect="1"/>
          </p:cNvPicPr>
          <p:nvPr/>
        </p:nvPicPr>
        <p:blipFill>
          <a:blip r:embed="rId4"/>
          <a:stretch>
            <a:fillRect/>
          </a:stretch>
        </p:blipFill>
        <p:spPr>
          <a:xfrm>
            <a:off x="6384129" y="1083945"/>
            <a:ext cx="5611580" cy="4947204"/>
          </a:xfrm>
          <a:prstGeom prst="rect">
            <a:avLst/>
          </a:prstGeom>
        </p:spPr>
      </p:pic>
    </p:spTree>
    <p:extLst>
      <p:ext uri="{BB962C8B-B14F-4D97-AF65-F5344CB8AC3E}">
        <p14:creationId xmlns:p14="http://schemas.microsoft.com/office/powerpoint/2010/main" val="227167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B21B2-29FA-CF3E-0EF5-CA8E7D11B3C0}"/>
            </a:ext>
          </a:extLst>
        </p:cNvPr>
        <p:cNvGrpSpPr/>
        <p:nvPr/>
      </p:nvGrpSpPr>
      <p:grpSpPr>
        <a:xfrm>
          <a:off x="0" y="0"/>
          <a:ext cx="0" cy="0"/>
          <a:chOff x="0" y="0"/>
          <a:chExt cx="0" cy="0"/>
        </a:xfrm>
      </p:grpSpPr>
      <p:sp>
        <p:nvSpPr>
          <p:cNvPr id="18" name="Text 0">
            <a:extLst>
              <a:ext uri="{FF2B5EF4-FFF2-40B4-BE49-F238E27FC236}">
                <a16:creationId xmlns:a16="http://schemas.microsoft.com/office/drawing/2014/main" id="{A2002807-FC12-EC40-4C26-B163B82289FB}"/>
              </a:ext>
            </a:extLst>
          </p:cNvPr>
          <p:cNvSpPr/>
          <p:nvPr/>
        </p:nvSpPr>
        <p:spPr>
          <a:xfrm>
            <a:off x="525295" y="311286"/>
            <a:ext cx="11760178" cy="772658"/>
          </a:xfrm>
          <a:prstGeom prst="rect">
            <a:avLst/>
          </a:prstGeom>
          <a:noFill/>
          <a:ln/>
        </p:spPr>
        <p:txBody>
          <a:bodyPr wrap="square" lIns="0" tIns="0" rIns="0" bIns="0" rtlCol="0" anchor="t">
            <a:noAutofit/>
          </a:bodyPr>
          <a:lstStyle/>
          <a:p>
            <a:r>
              <a:rPr lang="en-IN" sz="3200" b="1" dirty="0">
                <a:ln w="0"/>
                <a:solidFill>
                  <a:schemeClr val="accent1">
                    <a:lumMod val="50000"/>
                  </a:schemeClr>
                </a:solidFill>
                <a:effectLst>
                  <a:outerShdw blurRad="38100" dist="19050" dir="2700000" algn="tl" rotWithShape="0">
                    <a:schemeClr val="dk1">
                      <a:alpha val="40000"/>
                    </a:schemeClr>
                  </a:outerShdw>
                </a:effectLst>
              </a:rPr>
              <a:t>OUTPUT SCREENSHOT:</a:t>
            </a:r>
            <a:endParaRPr lang="en-US" sz="3200" b="1" dirty="0">
              <a:ln w="0"/>
              <a:solidFill>
                <a:schemeClr val="accent1">
                  <a:lumMod val="50000"/>
                </a:schemeClr>
              </a:solidFill>
              <a:effectLst>
                <a:outerShdw blurRad="38100" dist="19050" dir="2700000" algn="tl" rotWithShape="0">
                  <a:schemeClr val="dk1">
                    <a:alpha val="40000"/>
                  </a:schemeClr>
                </a:outerShdw>
              </a:effectLst>
            </a:endParaRPr>
          </a:p>
        </p:txBody>
      </p:sp>
      <p:pic>
        <p:nvPicPr>
          <p:cNvPr id="3" name="Picture 2">
            <a:extLst>
              <a:ext uri="{FF2B5EF4-FFF2-40B4-BE49-F238E27FC236}">
                <a16:creationId xmlns:a16="http://schemas.microsoft.com/office/drawing/2014/main" id="{FAB4C3C3-8A6B-7DDF-7039-F1B28D47579E}"/>
              </a:ext>
            </a:extLst>
          </p:cNvPr>
          <p:cNvPicPr>
            <a:picLocks noChangeAspect="1"/>
          </p:cNvPicPr>
          <p:nvPr/>
        </p:nvPicPr>
        <p:blipFill>
          <a:blip r:embed="rId3"/>
          <a:stretch>
            <a:fillRect/>
          </a:stretch>
        </p:blipFill>
        <p:spPr>
          <a:xfrm>
            <a:off x="525295" y="1054667"/>
            <a:ext cx="6040875" cy="5555958"/>
          </a:xfrm>
          <a:prstGeom prst="rect">
            <a:avLst/>
          </a:prstGeom>
        </p:spPr>
      </p:pic>
      <p:pic>
        <p:nvPicPr>
          <p:cNvPr id="5" name="Picture 4">
            <a:extLst>
              <a:ext uri="{FF2B5EF4-FFF2-40B4-BE49-F238E27FC236}">
                <a16:creationId xmlns:a16="http://schemas.microsoft.com/office/drawing/2014/main" id="{B923E3A5-159F-0054-FC4B-10E056C503DC}"/>
              </a:ext>
            </a:extLst>
          </p:cNvPr>
          <p:cNvPicPr>
            <a:picLocks noChangeAspect="1"/>
          </p:cNvPicPr>
          <p:nvPr/>
        </p:nvPicPr>
        <p:blipFill>
          <a:blip r:embed="rId4"/>
          <a:stretch>
            <a:fillRect/>
          </a:stretch>
        </p:blipFill>
        <p:spPr>
          <a:xfrm>
            <a:off x="6741268" y="1054667"/>
            <a:ext cx="5100536" cy="5555958"/>
          </a:xfrm>
          <a:prstGeom prst="rect">
            <a:avLst/>
          </a:prstGeom>
        </p:spPr>
      </p:pic>
    </p:spTree>
    <p:extLst>
      <p:ext uri="{BB962C8B-B14F-4D97-AF65-F5344CB8AC3E}">
        <p14:creationId xmlns:p14="http://schemas.microsoft.com/office/powerpoint/2010/main" val="2432865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Autofit/>
          </a:bodyPr>
          <a:lstStyle/>
          <a:p>
            <a:pPr marL="0" indent="0" algn="l">
              <a:lnSpc>
                <a:spcPts val="1680"/>
              </a:lnSpc>
              <a:buNone/>
            </a:pPr>
            <a:r>
              <a:rPr lang="en-US" sz="3200" b="1" kern="0" spc="150" dirty="0">
                <a:solidFill>
                  <a:srgbClr val="0B7A6D"/>
                </a:solidFill>
                <a:latin typeface="IBM Plex Sans" pitchFamily="34" charset="0"/>
              </a:rPr>
              <a:t>TECHNOLOGY USED:</a:t>
            </a:r>
            <a:endParaRPr lang="en-US" sz="3200" dirty="0"/>
          </a:p>
        </p:txBody>
      </p:sp>
      <p:sp>
        <p:nvSpPr>
          <p:cNvPr id="3" name="Text 1"/>
          <p:cNvSpPr>
            <a:spLocks noGrp="1"/>
          </p:cNvSpPr>
          <p:nvPr>
            <p:ph type="title"/>
          </p:nvPr>
        </p:nvSpPr>
        <p:spPr>
          <a:xfrm>
            <a:off x="812800" y="1102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Rubik" pitchFamily="34" charset="0"/>
                <a:ea typeface="Rubik" pitchFamily="34" charset="-122"/>
                <a:cs typeface="Rubik" pitchFamily="34" charset="-120"/>
              </a:rPr>
              <a:t>Technology stack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59281"/>
          <a:ext cx="10556240" cy="3058160"/>
        </p:xfrm>
        <a:graphic>
          <a:graphicData uri="http://schemas.openxmlformats.org/drawingml/2006/table">
            <a:tbl>
              <a:tblPr/>
              <a:tblGrid>
                <a:gridCol w="2955747">
                  <a:extLst>
                    <a:ext uri="{9D8B030D-6E8A-4147-A177-3AD203B41FA5}">
                      <a16:colId xmlns:a16="http://schemas.microsoft.com/office/drawing/2014/main" val="20000"/>
                    </a:ext>
                  </a:extLst>
                </a:gridCol>
                <a:gridCol w="7600493">
                  <a:extLst>
                    <a:ext uri="{9D8B030D-6E8A-4147-A177-3AD203B41FA5}">
                      <a16:colId xmlns:a16="http://schemas.microsoft.com/office/drawing/2014/main" val="20001"/>
                    </a:ext>
                  </a:extLst>
                </a:gridCol>
              </a:tblGrid>
              <a:tr h="436880">
                <a:tc>
                  <a:txBody>
                    <a:bodyPr/>
                    <a:lstStyle/>
                    <a:p>
                      <a:pPr marL="0" indent="0">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Layer</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marL="0" indent="0">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Tools</a:t>
                      </a:r>
                      <a:endParaRPr lang="en-US" sz="1600" dirty="0">
                        <a:latin typeface="IBM Plex Sans" charset="0"/>
                        <a:ea typeface="IBM Plex Sans" charset="0"/>
                        <a:cs typeface="IBM Plex Sans" charset="0"/>
                      </a:endParaRPr>
                    </a:p>
                  </a:txBody>
                  <a:tcPr marL="71120" marR="71120" marT="71120" marB="71120">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extLst>
                  <a:ext uri="{0D108BD9-81ED-4DB2-BD59-A6C34878D82A}">
                    <a16:rowId xmlns:a16="http://schemas.microsoft.com/office/drawing/2014/main" val="10000"/>
                  </a:ext>
                </a:extLst>
              </a:tr>
              <a:tr h="436880">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Front end</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HTML, CSS, JavaScript, Chart.js</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1"/>
                  </a:ext>
                </a:extLst>
              </a:tr>
              <a:tr h="436880">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Back end</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Python, Flask</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2"/>
                  </a:ext>
                </a:extLst>
              </a:tr>
              <a:tr h="436880">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ML and NLP</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scikit-learn, SHAP or LIME, sentence-transformers</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3"/>
                  </a:ext>
                </a:extLst>
              </a:tr>
              <a:tr h="436880">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OCR and PDF</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EasyOCR or Tesseract, pdfplumber</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4"/>
                  </a:ext>
                </a:extLst>
              </a:tr>
              <a:tr h="436880">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Data</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EMSCAD, our own Indian-style test messages, sample resumes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5"/>
                  </a:ext>
                </a:extLst>
              </a:tr>
              <a:tr h="436880">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Storage</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40"/>
                        </a:lnSpc>
                        <a:buNone/>
                      </a:pPr>
                      <a:r>
                        <a:rPr lang="en-US" sz="1600" dirty="0">
                          <a:solidFill>
                            <a:srgbClr val="0F1B2D"/>
                          </a:solidFill>
                          <a:latin typeface="IBM Plex Sans" pitchFamily="34" charset="0"/>
                          <a:ea typeface="IBM Plex Sans" pitchFamily="34" charset="-122"/>
                          <a:cs typeface="IBM Plex Sans" pitchFamily="34" charset="-120"/>
                        </a:rPr>
                        <a:t>SQLite for scan history and dashboard</a:t>
                      </a:r>
                      <a:endParaRPr lang="en-US" sz="1600" dirty="0">
                        <a:latin typeface="IBM Plex Sans" charset="0"/>
                        <a:ea typeface="IBM Plex Sans" charset="0"/>
                        <a:cs typeface="IBM Plex Sans" charset="0"/>
                      </a:endParaRPr>
                    </a:p>
                  </a:txBody>
                  <a:tcPr marL="71120" marR="71120" marT="71120" marB="7112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BM Plex Sans" pitchFamily="34" charset="0"/>
                <a:ea typeface="IBM Plex Sans" pitchFamily="34" charset="-122"/>
                <a:cs typeface="IBM Plex Sans" pitchFamily="34" charset="-120"/>
              </a:rPr>
              <a:t>ScamShield AI · 08</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39A84-B1A9-5595-9488-C1954FF943FC}"/>
            </a:ext>
          </a:extLst>
        </p:cNvPr>
        <p:cNvGrpSpPr/>
        <p:nvPr/>
      </p:nvGrpSpPr>
      <p:grpSpPr>
        <a:xfrm>
          <a:off x="0" y="0"/>
          <a:ext cx="0" cy="0"/>
          <a:chOff x="0" y="0"/>
          <a:chExt cx="0" cy="0"/>
        </a:xfrm>
      </p:grpSpPr>
      <p:sp>
        <p:nvSpPr>
          <p:cNvPr id="18" name="Text 0">
            <a:extLst>
              <a:ext uri="{FF2B5EF4-FFF2-40B4-BE49-F238E27FC236}">
                <a16:creationId xmlns:a16="http://schemas.microsoft.com/office/drawing/2014/main" id="{8BD241FE-4D31-3E4D-6789-ADD168AC5FDD}"/>
              </a:ext>
            </a:extLst>
          </p:cNvPr>
          <p:cNvSpPr/>
          <p:nvPr/>
        </p:nvSpPr>
        <p:spPr>
          <a:xfrm>
            <a:off x="525295" y="311286"/>
            <a:ext cx="11760178" cy="772658"/>
          </a:xfrm>
          <a:prstGeom prst="rect">
            <a:avLst/>
          </a:prstGeom>
          <a:noFill/>
          <a:ln/>
        </p:spPr>
        <p:txBody>
          <a:bodyPr wrap="square" lIns="0" tIns="0" rIns="0" bIns="0" rtlCol="0" anchor="t">
            <a:noAutofit/>
          </a:bodyPr>
          <a:lstStyle/>
          <a:p>
            <a:r>
              <a:rPr lang="en-IN" sz="3200" b="1" dirty="0">
                <a:solidFill>
                  <a:schemeClr val="accent1">
                    <a:lumMod val="50000"/>
                  </a:schemeClr>
                </a:solidFill>
              </a:rPr>
              <a:t>Conclusion:</a:t>
            </a:r>
            <a:endParaRPr lang="en-US" sz="3200" b="1" dirty="0">
              <a:ln w="0"/>
              <a:solidFill>
                <a:schemeClr val="accent1">
                  <a:lumMod val="50000"/>
                </a:schemeClr>
              </a:solidFill>
              <a:effectLst>
                <a:outerShdw blurRad="38100" dist="19050" dir="2700000" algn="tl" rotWithShape="0">
                  <a:schemeClr val="dk1">
                    <a:alpha val="40000"/>
                  </a:schemeClr>
                </a:outerShdw>
              </a:effectLst>
            </a:endParaRPr>
          </a:p>
        </p:txBody>
      </p:sp>
      <p:sp>
        <p:nvSpPr>
          <p:cNvPr id="5" name="Text 11">
            <a:extLst>
              <a:ext uri="{FF2B5EF4-FFF2-40B4-BE49-F238E27FC236}">
                <a16:creationId xmlns:a16="http://schemas.microsoft.com/office/drawing/2014/main" id="{67F0C2F4-CB3B-F833-3881-83DA214784D9}"/>
              </a:ext>
            </a:extLst>
          </p:cNvPr>
          <p:cNvSpPr/>
          <p:nvPr/>
        </p:nvSpPr>
        <p:spPr>
          <a:xfrm>
            <a:off x="669047" y="914400"/>
            <a:ext cx="10853905" cy="5323841"/>
          </a:xfrm>
          <a:prstGeom prst="roundRect">
            <a:avLst>
              <a:gd name="adj" fmla="val 15513"/>
            </a:avLst>
          </a:prstGeom>
          <a:solidFill>
            <a:srgbClr val="0F1B2D"/>
          </a:solidFill>
          <a:ln/>
        </p:spPr>
        <p:txBody>
          <a:bodyPr wrap="square" lIns="242203" tIns="191403" rIns="0" bIns="166003" rtlCol="0" anchor="t">
            <a:normAutofit/>
          </a:bodyPr>
          <a:lstStyle/>
          <a:p>
            <a:pPr marL="342900" lvl="0" indent="-342900">
              <a:lnSpc>
                <a:spcPct val="150000"/>
              </a:lnSpc>
              <a:buFont typeface="Arial" panose="020B0604020202020204" pitchFamily="34" charset="0"/>
              <a:buChar char="•"/>
            </a:pPr>
            <a:r>
              <a:rPr lang="en-IN" sz="2400" dirty="0" err="1">
                <a:solidFill>
                  <a:schemeClr val="bg1"/>
                </a:solidFill>
                <a:latin typeface="Times New Roman" panose="02020603050405020304" pitchFamily="18" charset="0"/>
                <a:cs typeface="Times New Roman" panose="02020603050405020304" pitchFamily="18" charset="0"/>
              </a:rPr>
              <a:t>ScamShield</a:t>
            </a:r>
            <a:r>
              <a:rPr lang="en-IN" sz="2400" dirty="0">
                <a:solidFill>
                  <a:schemeClr val="bg1"/>
                </a:solidFill>
                <a:latin typeface="Times New Roman" panose="02020603050405020304" pitchFamily="18" charset="0"/>
                <a:cs typeface="Times New Roman" panose="02020603050405020304" pitchFamily="18" charset="0"/>
              </a:rPr>
              <a:t> AI helps students check a job or internship offer before they pay.</a:t>
            </a:r>
          </a:p>
          <a:p>
            <a:pPr marL="342900" lvl="0" indent="-342900">
              <a:lnSpc>
                <a:spcPct val="150000"/>
              </a:lnSpc>
              <a:buFont typeface="Arial" panose="020B0604020202020204" pitchFamily="34" charset="0"/>
              <a:buChar char="•"/>
            </a:pPr>
            <a:r>
              <a:rPr lang="en-IN" sz="2400" dirty="0">
                <a:solidFill>
                  <a:schemeClr val="bg1"/>
                </a:solidFill>
                <a:latin typeface="Times New Roman" panose="02020603050405020304" pitchFamily="18" charset="0"/>
                <a:cs typeface="Times New Roman" panose="02020603050405020304" pitchFamily="18" charset="0"/>
              </a:rPr>
              <a:t>It gives a clear risk score and shows why, so students can trust the result.</a:t>
            </a:r>
          </a:p>
          <a:p>
            <a:pPr marL="342900" lvl="0" indent="-342900">
              <a:lnSpc>
                <a:spcPct val="150000"/>
              </a:lnSpc>
              <a:buFont typeface="Arial" panose="020B0604020202020204" pitchFamily="34" charset="0"/>
              <a:buChar char="•"/>
            </a:pPr>
            <a:r>
              <a:rPr lang="en-IN" sz="2400" dirty="0">
                <a:solidFill>
                  <a:schemeClr val="bg1"/>
                </a:solidFill>
                <a:latin typeface="Times New Roman" panose="02020603050405020304" pitchFamily="18" charset="0"/>
                <a:cs typeface="Times New Roman" panose="02020603050405020304" pitchFamily="18" charset="0"/>
              </a:rPr>
              <a:t>It supports recruiters with resume checks, and helps victims with a safe reply and a complaint draft.</a:t>
            </a:r>
          </a:p>
          <a:p>
            <a:pPr marL="342900" lvl="0" indent="-342900">
              <a:lnSpc>
                <a:spcPct val="150000"/>
              </a:lnSpc>
              <a:buFont typeface="Arial" panose="020B0604020202020204" pitchFamily="34" charset="0"/>
              <a:buChar char="•"/>
            </a:pPr>
            <a:r>
              <a:rPr lang="en-IN" sz="2400" dirty="0">
                <a:solidFill>
                  <a:schemeClr val="bg1"/>
                </a:solidFill>
                <a:latin typeface="Times New Roman" panose="02020603050405020304" pitchFamily="18" charset="0"/>
                <a:cs typeface="Times New Roman" panose="02020603050405020304" pitchFamily="18" charset="0"/>
              </a:rPr>
              <a:t>Reviews, the live dashboard and the game build awareness for everyone.</a:t>
            </a:r>
          </a:p>
          <a:p>
            <a:pPr marL="342900" lvl="0" indent="-342900">
              <a:lnSpc>
                <a:spcPct val="150000"/>
              </a:lnSpc>
              <a:buFont typeface="Arial" panose="020B0604020202020204" pitchFamily="34" charset="0"/>
              <a:buChar char="•"/>
            </a:pPr>
            <a:r>
              <a:rPr lang="en-IN" sz="2400" dirty="0">
                <a:solidFill>
                  <a:schemeClr val="bg1"/>
                </a:solidFill>
                <a:latin typeface="Times New Roman" panose="02020603050405020304" pitchFamily="18" charset="0"/>
                <a:cs typeface="Times New Roman" panose="02020603050405020304" pitchFamily="18" charset="0"/>
              </a:rPr>
              <a:t>It is a risk indicator, not proof, so students should always verify the company.</a:t>
            </a:r>
          </a:p>
        </p:txBody>
      </p:sp>
    </p:spTree>
    <p:extLst>
      <p:ext uri="{BB962C8B-B14F-4D97-AF65-F5344CB8AC3E}">
        <p14:creationId xmlns:p14="http://schemas.microsoft.com/office/powerpoint/2010/main" val="1593748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6D"/>
                </a:solidFill>
                <a:latin typeface="IBM Plex Sans" pitchFamily="34" charset="0"/>
                <a:ea typeface="IBM Plex Sans" pitchFamily="34" charset="-122"/>
                <a:cs typeface="IBM Plex Sans" pitchFamily="34" charset="-120"/>
              </a:rPr>
              <a:t>WHAT COMES NEXT</a:t>
            </a:r>
            <a:endParaRPr lang="en-US" sz="1200" dirty="0"/>
          </a:p>
        </p:txBody>
      </p:sp>
      <p:sp>
        <p:nvSpPr>
          <p:cNvPr id="3" name="Text 1"/>
          <p:cNvSpPr>
            <a:spLocks noGrp="1"/>
          </p:cNvSpPr>
          <p:nvPr>
            <p:ph type="title"/>
          </p:nvPr>
        </p:nvSpPr>
        <p:spPr>
          <a:xfrm>
            <a:off x="812800" y="11023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Rubik" pitchFamily="34" charset="0"/>
                <a:ea typeface="Rubik" pitchFamily="34" charset="-122"/>
                <a:cs typeface="Rubik" pitchFamily="34" charset="-120"/>
              </a:rPr>
              <a:t>Future work</a:t>
            </a:r>
            <a:endParaRPr lang="en-US" sz="3200" dirty="0"/>
          </a:p>
        </p:txBody>
      </p:sp>
      <p:sp>
        <p:nvSpPr>
          <p:cNvPr id="4" name="Shape 2"/>
          <p:cNvSpPr/>
          <p:nvPr/>
        </p:nvSpPr>
        <p:spPr>
          <a:xfrm>
            <a:off x="815975" y="1877696"/>
            <a:ext cx="1985010" cy="1992630"/>
          </a:xfrm>
          <a:prstGeom prst="roundRect">
            <a:avLst>
              <a:gd name="adj" fmla="val 6238"/>
            </a:avLst>
          </a:prstGeom>
          <a:solidFill>
            <a:srgbClr val="FFFFFF"/>
          </a:solidFill>
          <a:ln w="6350">
            <a:solidFill>
              <a:srgbClr val="DDE3EA"/>
            </a:solidFill>
            <a:prstDash val="solid"/>
          </a:ln>
        </p:spPr>
      </p:sp>
      <p:pic>
        <p:nvPicPr>
          <p:cNvPr id="5" name="Image 0" descr="Globe"/>
          <p:cNvPicPr>
            <a:picLocks noChangeAspect="1"/>
          </p:cNvPicPr>
          <p:nvPr/>
        </p:nvPicPr>
        <p:blipFill>
          <a:blip r:embed="rId3"/>
          <a:srcRect/>
          <a:stretch/>
        </p:blipFill>
        <p:spPr>
          <a:xfrm>
            <a:off x="995680" y="2057400"/>
            <a:ext cx="304800" cy="304800"/>
          </a:xfrm>
          <a:prstGeom prst="rect">
            <a:avLst/>
          </a:prstGeom>
        </p:spPr>
      </p:pic>
      <p:sp>
        <p:nvSpPr>
          <p:cNvPr id="6" name="Text 3"/>
          <p:cNvSpPr/>
          <p:nvPr/>
        </p:nvSpPr>
        <p:spPr>
          <a:xfrm>
            <a:off x="995680" y="2451100"/>
            <a:ext cx="18021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Chrome extension</a:t>
            </a:r>
            <a:endParaRPr lang="en-US" sz="1500" dirty="0"/>
          </a:p>
        </p:txBody>
      </p:sp>
      <p:sp>
        <p:nvSpPr>
          <p:cNvPr id="7" name="Text 4"/>
          <p:cNvSpPr/>
          <p:nvPr/>
        </p:nvSpPr>
        <p:spPr>
          <a:xfrm>
            <a:off x="995680" y="2768600"/>
            <a:ext cx="16764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46A"/>
                </a:solidFill>
                <a:latin typeface="IBM Plex Sans" pitchFamily="34" charset="0"/>
                <a:ea typeface="IBM Plex Sans" pitchFamily="34" charset="-122"/>
                <a:cs typeface="IBM Plex Sans" pitchFamily="34" charset="-120"/>
              </a:rPr>
              <a:t>Flag postings on LinkedIn and Naukri.</a:t>
            </a:r>
            <a:endParaRPr lang="en-US" sz="1300" dirty="0"/>
          </a:p>
        </p:txBody>
      </p:sp>
      <p:sp>
        <p:nvSpPr>
          <p:cNvPr id="8" name="Shape 5"/>
          <p:cNvSpPr/>
          <p:nvPr/>
        </p:nvSpPr>
        <p:spPr>
          <a:xfrm>
            <a:off x="2959735" y="1877696"/>
            <a:ext cx="1985010" cy="1992630"/>
          </a:xfrm>
          <a:prstGeom prst="roundRect">
            <a:avLst>
              <a:gd name="adj" fmla="val 6238"/>
            </a:avLst>
          </a:prstGeom>
          <a:solidFill>
            <a:srgbClr val="FFFFFF"/>
          </a:solidFill>
          <a:ln w="6350">
            <a:solidFill>
              <a:srgbClr val="DDE3EA"/>
            </a:solidFill>
            <a:prstDash val="solid"/>
          </a:ln>
        </p:spPr>
      </p:sp>
      <p:pic>
        <p:nvPicPr>
          <p:cNvPr id="9" name="Image 1" descr="PaperPlane"/>
          <p:cNvPicPr>
            <a:picLocks noChangeAspect="1"/>
          </p:cNvPicPr>
          <p:nvPr/>
        </p:nvPicPr>
        <p:blipFill>
          <a:blip r:embed="rId4"/>
          <a:srcRect/>
          <a:stretch/>
        </p:blipFill>
        <p:spPr>
          <a:xfrm>
            <a:off x="3139440" y="2057400"/>
            <a:ext cx="304800" cy="304800"/>
          </a:xfrm>
          <a:prstGeom prst="rect">
            <a:avLst/>
          </a:prstGeom>
        </p:spPr>
      </p:pic>
      <p:sp>
        <p:nvSpPr>
          <p:cNvPr id="10" name="Text 6"/>
          <p:cNvSpPr/>
          <p:nvPr/>
        </p:nvSpPr>
        <p:spPr>
          <a:xfrm>
            <a:off x="3139440" y="2451100"/>
            <a:ext cx="16764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Telegram bot</a:t>
            </a:r>
            <a:endParaRPr lang="en-US" sz="1500" dirty="0"/>
          </a:p>
        </p:txBody>
      </p:sp>
      <p:sp>
        <p:nvSpPr>
          <p:cNvPr id="11" name="Text 7"/>
          <p:cNvSpPr/>
          <p:nvPr/>
        </p:nvSpPr>
        <p:spPr>
          <a:xfrm>
            <a:off x="3139440" y="2768600"/>
            <a:ext cx="16764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46A"/>
                </a:solidFill>
                <a:latin typeface="IBM Plex Sans" pitchFamily="34" charset="0"/>
                <a:ea typeface="IBM Plex Sans" pitchFamily="34" charset="-122"/>
                <a:cs typeface="IBM Plex Sans" pitchFamily="34" charset="-120"/>
              </a:rPr>
              <a:t>Forward a message to get a verdict.</a:t>
            </a:r>
            <a:endParaRPr lang="en-US" sz="1300" dirty="0"/>
          </a:p>
        </p:txBody>
      </p:sp>
      <p:sp>
        <p:nvSpPr>
          <p:cNvPr id="12" name="Shape 8"/>
          <p:cNvSpPr/>
          <p:nvPr/>
        </p:nvSpPr>
        <p:spPr>
          <a:xfrm>
            <a:off x="5103495" y="1877696"/>
            <a:ext cx="1985010" cy="1992630"/>
          </a:xfrm>
          <a:prstGeom prst="roundRect">
            <a:avLst>
              <a:gd name="adj" fmla="val 6238"/>
            </a:avLst>
          </a:prstGeom>
          <a:solidFill>
            <a:srgbClr val="FFFFFF"/>
          </a:solidFill>
          <a:ln w="6350">
            <a:solidFill>
              <a:srgbClr val="DDE3EA"/>
            </a:solidFill>
            <a:prstDash val="solid"/>
          </a:ln>
        </p:spPr>
      </p:sp>
      <p:pic>
        <p:nvPicPr>
          <p:cNvPr id="13" name="Image 2" descr="Database"/>
          <p:cNvPicPr>
            <a:picLocks noChangeAspect="1"/>
          </p:cNvPicPr>
          <p:nvPr/>
        </p:nvPicPr>
        <p:blipFill>
          <a:blip r:embed="rId5"/>
          <a:srcRect/>
          <a:stretch/>
        </p:blipFill>
        <p:spPr>
          <a:xfrm>
            <a:off x="5283200" y="2057400"/>
            <a:ext cx="304800" cy="304800"/>
          </a:xfrm>
          <a:prstGeom prst="rect">
            <a:avLst/>
          </a:prstGeom>
        </p:spPr>
      </p:pic>
      <p:sp>
        <p:nvSpPr>
          <p:cNvPr id="14" name="Text 9"/>
          <p:cNvSpPr/>
          <p:nvPr/>
        </p:nvSpPr>
        <p:spPr>
          <a:xfrm>
            <a:off x="5283200" y="2451100"/>
            <a:ext cx="16764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Report database</a:t>
            </a:r>
            <a:endParaRPr lang="en-US" sz="1500" dirty="0"/>
          </a:p>
        </p:txBody>
      </p:sp>
      <p:sp>
        <p:nvSpPr>
          <p:cNvPr id="15" name="Text 10"/>
          <p:cNvSpPr/>
          <p:nvPr/>
        </p:nvSpPr>
        <p:spPr>
          <a:xfrm>
            <a:off x="5283200" y="2768600"/>
            <a:ext cx="167640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46A"/>
                </a:solidFill>
                <a:latin typeface="IBM Plex Sans" pitchFamily="34" charset="0"/>
                <a:ea typeface="IBM Plex Sans" pitchFamily="34" charset="-122"/>
                <a:cs typeface="IBM Plex Sans" pitchFamily="34" charset="-120"/>
              </a:rPr>
              <a:t>Reused phone numbers and UPI IDs.</a:t>
            </a:r>
            <a:endParaRPr lang="en-US" sz="1300" dirty="0"/>
          </a:p>
        </p:txBody>
      </p:sp>
      <p:sp>
        <p:nvSpPr>
          <p:cNvPr id="16" name="Shape 11"/>
          <p:cNvSpPr/>
          <p:nvPr/>
        </p:nvSpPr>
        <p:spPr>
          <a:xfrm>
            <a:off x="7247255" y="1877696"/>
            <a:ext cx="1985010" cy="1992630"/>
          </a:xfrm>
          <a:prstGeom prst="roundRect">
            <a:avLst>
              <a:gd name="adj" fmla="val 6238"/>
            </a:avLst>
          </a:prstGeom>
          <a:solidFill>
            <a:srgbClr val="FFFFFF"/>
          </a:solidFill>
          <a:ln w="6350">
            <a:solidFill>
              <a:srgbClr val="DDE3EA"/>
            </a:solidFill>
            <a:prstDash val="solid"/>
          </a:ln>
        </p:spPr>
      </p:sp>
      <p:pic>
        <p:nvPicPr>
          <p:cNvPr id="17" name="Image 3" descr="Lightning"/>
          <p:cNvPicPr>
            <a:picLocks noChangeAspect="1"/>
          </p:cNvPicPr>
          <p:nvPr/>
        </p:nvPicPr>
        <p:blipFill>
          <a:blip r:embed="rId6"/>
          <a:srcRect/>
          <a:stretch/>
        </p:blipFill>
        <p:spPr>
          <a:xfrm>
            <a:off x="7426960" y="2057400"/>
            <a:ext cx="304800" cy="304800"/>
          </a:xfrm>
          <a:prstGeom prst="rect">
            <a:avLst/>
          </a:prstGeom>
        </p:spPr>
      </p:pic>
      <p:sp>
        <p:nvSpPr>
          <p:cNvPr id="18" name="Text 12"/>
          <p:cNvSpPr/>
          <p:nvPr/>
        </p:nvSpPr>
        <p:spPr>
          <a:xfrm>
            <a:off x="7426960" y="2451100"/>
            <a:ext cx="16764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DistilBERT</a:t>
            </a:r>
            <a:endParaRPr lang="en-US" sz="1500" dirty="0"/>
          </a:p>
        </p:txBody>
      </p:sp>
      <p:sp>
        <p:nvSpPr>
          <p:cNvPr id="19" name="Text 13"/>
          <p:cNvSpPr/>
          <p:nvPr/>
        </p:nvSpPr>
        <p:spPr>
          <a:xfrm>
            <a:off x="7426960" y="2768600"/>
            <a:ext cx="16764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46A"/>
                </a:solidFill>
                <a:latin typeface="IBM Plex Sans" pitchFamily="34" charset="0"/>
                <a:ea typeface="IBM Plex Sans" pitchFamily="34" charset="-122"/>
                <a:cs typeface="IBM Plex Sans" pitchFamily="34" charset="-120"/>
              </a:rPr>
              <a:t>Compare with the baseline model.</a:t>
            </a:r>
            <a:endParaRPr lang="en-US" sz="1300" dirty="0"/>
          </a:p>
        </p:txBody>
      </p:sp>
      <p:sp>
        <p:nvSpPr>
          <p:cNvPr id="20" name="Shape 14"/>
          <p:cNvSpPr/>
          <p:nvPr/>
        </p:nvSpPr>
        <p:spPr>
          <a:xfrm>
            <a:off x="9391015" y="1877696"/>
            <a:ext cx="1985010" cy="1992630"/>
          </a:xfrm>
          <a:prstGeom prst="roundRect">
            <a:avLst>
              <a:gd name="adj" fmla="val 6238"/>
            </a:avLst>
          </a:prstGeom>
          <a:solidFill>
            <a:srgbClr val="FFFFFF"/>
          </a:solidFill>
          <a:ln w="6350">
            <a:solidFill>
              <a:srgbClr val="DDE3EA"/>
            </a:solidFill>
            <a:prstDash val="solid"/>
          </a:ln>
        </p:spPr>
      </p:sp>
      <p:pic>
        <p:nvPicPr>
          <p:cNvPr id="21" name="Image 4" descr="Chart"/>
          <p:cNvPicPr>
            <a:picLocks noChangeAspect="1"/>
          </p:cNvPicPr>
          <p:nvPr/>
        </p:nvPicPr>
        <p:blipFill>
          <a:blip r:embed="rId7"/>
          <a:srcRect/>
          <a:stretch/>
        </p:blipFill>
        <p:spPr>
          <a:xfrm>
            <a:off x="9570720" y="2057400"/>
            <a:ext cx="304800" cy="304800"/>
          </a:xfrm>
          <a:prstGeom prst="rect">
            <a:avLst/>
          </a:prstGeom>
        </p:spPr>
      </p:pic>
      <p:sp>
        <p:nvSpPr>
          <p:cNvPr id="22" name="Text 15"/>
          <p:cNvSpPr/>
          <p:nvPr/>
        </p:nvSpPr>
        <p:spPr>
          <a:xfrm>
            <a:off x="9570720" y="2451100"/>
            <a:ext cx="167640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Placement cell view</a:t>
            </a:r>
            <a:endParaRPr lang="en-US" sz="1500" dirty="0"/>
          </a:p>
        </p:txBody>
      </p:sp>
      <p:sp>
        <p:nvSpPr>
          <p:cNvPr id="23" name="Text 16"/>
          <p:cNvSpPr/>
          <p:nvPr/>
        </p:nvSpPr>
        <p:spPr>
          <a:xfrm>
            <a:off x="9570720" y="2997200"/>
            <a:ext cx="167640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46A"/>
                </a:solidFill>
                <a:latin typeface="IBM Plex Sans" pitchFamily="34" charset="0"/>
                <a:ea typeface="IBM Plex Sans" pitchFamily="34" charset="-122"/>
                <a:cs typeface="IBM Plex Sans" pitchFamily="34" charset="-120"/>
              </a:rPr>
              <a:t>Check companies before campus drives.</a:t>
            </a:r>
            <a:endParaRPr lang="en-US" sz="1300" dirty="0"/>
          </a:p>
        </p:txBody>
      </p:sp>
      <p:sp>
        <p:nvSpPr>
          <p:cNvPr id="24" name="Text 17"/>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BM Plex Sans" pitchFamily="34" charset="0"/>
                <a:ea typeface="IBM Plex Sans" pitchFamily="34" charset="-122"/>
                <a:cs typeface="IBM Plex Sans" pitchFamily="34" charset="-120"/>
              </a:rPr>
              <a:t>ScamShield AI · 12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1B2D"/>
              </a:gs>
              <a:gs pos="100000">
                <a:srgbClr val="17304D"/>
              </a:gs>
            </a:gsLst>
            <a:lin ang="2700000" scaled="0"/>
          </a:gradFill>
          <a:ln/>
        </p:spPr>
      </p:sp>
      <p:pic>
        <p:nvPicPr>
          <p:cNvPr id="3" name="Image 0" descr="Verified"/>
          <p:cNvPicPr>
            <a:picLocks noChangeAspect="1"/>
          </p:cNvPicPr>
          <p:nvPr/>
        </p:nvPicPr>
        <p:blipFill>
          <a:blip r:embed="rId3"/>
          <a:srcRect/>
          <a:stretch/>
        </p:blipFill>
        <p:spPr>
          <a:xfrm>
            <a:off x="812800" y="1927864"/>
            <a:ext cx="762000" cy="762000"/>
          </a:xfrm>
          <a:prstGeom prst="rect">
            <a:avLst/>
          </a:prstGeom>
        </p:spPr>
      </p:pic>
      <p:sp>
        <p:nvSpPr>
          <p:cNvPr id="4" name="Text 1"/>
          <p:cNvSpPr>
            <a:spLocks noGrp="1"/>
          </p:cNvSpPr>
          <p:nvPr>
            <p:ph type="title"/>
          </p:nvPr>
        </p:nvSpPr>
        <p:spPr>
          <a:xfrm>
            <a:off x="812800" y="2893064"/>
            <a:ext cx="10883392" cy="985520"/>
          </a:xfrm>
          <a:prstGeom prst="rect">
            <a:avLst/>
          </a:prstGeom>
          <a:noFill/>
          <a:ln/>
        </p:spPr>
        <p:txBody>
          <a:bodyPr wrap="square" lIns="0" tIns="0" rIns="0" bIns="0" rtlCol="0" anchor="t">
            <a:normAutofit/>
          </a:bodyPr>
          <a:lstStyle/>
          <a:p>
            <a:pPr marL="0" indent="0" algn="l">
              <a:lnSpc>
                <a:spcPts val="7560"/>
              </a:lnSpc>
              <a:buNone/>
            </a:pPr>
            <a:r>
              <a:rPr lang="en-US" sz="7200" b="1" i="0" dirty="0">
                <a:solidFill>
                  <a:srgbClr val="F4F6F8"/>
                </a:solidFill>
                <a:latin typeface="Rubik" pitchFamily="34" charset="0"/>
                <a:ea typeface="Rubik" pitchFamily="34" charset="-122"/>
                <a:cs typeface="Rubik" pitchFamily="34" charset="-120"/>
              </a:rPr>
              <a:t>Thank you</a:t>
            </a:r>
            <a:endParaRPr lang="en-US" sz="7200" dirty="0"/>
          </a:p>
        </p:txBody>
      </p:sp>
      <p:sp>
        <p:nvSpPr>
          <p:cNvPr id="5" name="Text 2"/>
          <p:cNvSpPr/>
          <p:nvPr/>
        </p:nvSpPr>
        <p:spPr>
          <a:xfrm>
            <a:off x="812800" y="4056379"/>
            <a:ext cx="10883392" cy="375920"/>
          </a:xfrm>
          <a:prstGeom prst="rect">
            <a:avLst/>
          </a:prstGeom>
          <a:noFill/>
          <a:ln/>
        </p:spPr>
        <p:txBody>
          <a:bodyPr wrap="square" lIns="0" tIns="0" rIns="0" bIns="0" rtlCol="0" anchor="t">
            <a:normAutofit/>
          </a:bodyPr>
          <a:lstStyle/>
          <a:p>
            <a:pPr marL="0" indent="0" algn="l">
              <a:lnSpc>
                <a:spcPts val="2760"/>
              </a:lnSpc>
              <a:buNone/>
            </a:pPr>
            <a:r>
              <a:rPr lang="en-US" sz="2400" dirty="0">
                <a:solidFill>
                  <a:srgbClr val="D5DEEA"/>
                </a:solidFill>
                <a:latin typeface="IBM Plex Sans" pitchFamily="34" charset="0"/>
                <a:ea typeface="IBM Plex Sans" pitchFamily="34" charset="-122"/>
                <a:cs typeface="IBM Plex Sans" pitchFamily="34" charset="-120"/>
              </a:rPr>
              <a:t>Questions?</a:t>
            </a:r>
            <a:endParaRPr lang="en-US" sz="2400" dirty="0"/>
          </a:p>
        </p:txBody>
      </p:sp>
      <p:sp>
        <p:nvSpPr>
          <p:cNvPr id="6" name="Text 3"/>
          <p:cNvSpPr/>
          <p:nvPr/>
        </p:nvSpPr>
        <p:spPr>
          <a:xfrm>
            <a:off x="812800" y="4610100"/>
            <a:ext cx="10883392"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3DD6C3"/>
                </a:solidFill>
                <a:latin typeface="IBM Plex Sans" pitchFamily="34" charset="0"/>
                <a:ea typeface="IBM Plex Sans" pitchFamily="34" charset="-122"/>
                <a:cs typeface="IBM Plex Sans" pitchFamily="34" charset="-120"/>
              </a:rPr>
              <a:t>ScamShield AI: Detect. Explain. Report. Protect, before you pay.</a:t>
            </a:r>
            <a:endParaRPr lang="en-US" sz="1800" dirty="0"/>
          </a:p>
        </p:txBody>
      </p:sp>
    </p:spTree>
  </p:cSld>
  <p:clrMapOvr>
    <a:masterClrMapping/>
  </p:clrMapOvr>
</p:sld>
</file>

<file path=ppt/theme/theme1.xml><?xml version="1.0" encoding="utf-8"?>
<a:theme xmlns:a="http://schemas.openxmlformats.org/drawingml/2006/main" name="ScamShield AI">
  <a:themeElements>
    <a:clrScheme name="ScamShield AI">
      <a:dk1>
        <a:srgbClr val="0F1B2D"/>
      </a:dk1>
      <a:lt1>
        <a:srgbClr val="F4F6F8"/>
      </a:lt1>
      <a:dk2>
        <a:srgbClr val="485260"/>
      </a:dk2>
      <a:lt2>
        <a:srgbClr val="DDE0E4"/>
      </a:lt2>
      <a:accent1>
        <a:srgbClr val="3DD6C3"/>
      </a:accent1>
      <a:accent2>
        <a:srgbClr val="0B7A6D"/>
      </a:accent2>
      <a:accent3>
        <a:srgbClr val="17304D"/>
      </a:accent3>
      <a:accent4>
        <a:srgbClr val="0B5F55"/>
      </a:accent4>
      <a:accent5>
        <a:srgbClr val="8FA0B8"/>
      </a:accent5>
      <a:accent6>
        <a:srgbClr val="44546A"/>
      </a:accent6>
      <a:hlink>
        <a:srgbClr val="0563C1"/>
      </a:hlink>
      <a:folHlink>
        <a:srgbClr val="954F72"/>
      </a:folHlink>
    </a:clrScheme>
    <a:fontScheme name="ScamShield A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TotalTime>
  <Words>1474</Words>
  <Application>Microsoft Office PowerPoint</Application>
  <PresentationFormat>Widescreen</PresentationFormat>
  <Paragraphs>183</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IBM Plex Sans</vt:lpstr>
      <vt:lpstr>Rubik</vt:lpstr>
      <vt:lpstr>Times New Roman</vt:lpstr>
      <vt:lpstr>ScamShield AI</vt:lpstr>
      <vt:lpstr>ScamShield AI</vt:lpstr>
      <vt:lpstr>PowerPoint Presentation</vt:lpstr>
      <vt:lpstr>PowerPoint Presentation</vt:lpstr>
      <vt:lpstr>PowerPoint Presentation</vt:lpstr>
      <vt:lpstr>PowerPoint Presentation</vt:lpstr>
      <vt:lpstr>Two modes, one platform</vt:lpstr>
      <vt:lpstr>PowerPoint Presentation</vt:lpstr>
      <vt:lpstr>PowerPoint Presentation</vt:lpstr>
      <vt:lpstr>Verification flags for resumes</vt:lpstr>
      <vt:lpstr>PowerPoint Presentation</vt:lpstr>
      <vt:lpstr>PowerPoint Presentation</vt:lpstr>
      <vt:lpstr>PowerPoint Presentation</vt:lpstr>
      <vt:lpstr>PowerPoint Presentation</vt:lpstr>
      <vt:lpstr>Technology stack</vt:lpstr>
      <vt:lpstr>PowerPoint Presentation</vt:lpstr>
      <vt:lpstr>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ScamShield AI</dc:title>
  <dc:subject/>
  <dc:creator/>
  <cp:lastModifiedBy>S Sivadharshini</cp:lastModifiedBy>
  <cp:revision>7</cp:revision>
  <dcterms:created xsi:type="dcterms:W3CDTF">2026-10-09T03:25:37Z</dcterms:created>
  <dcterms:modified xsi:type="dcterms:W3CDTF">2026-10-10T00:52:48Z</dcterms:modified>
</cp:coreProperties>
</file>